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3"/>
    <p:sldId id="262" r:id="rId4"/>
    <p:sldId id="257" r:id="rId5"/>
    <p:sldId id="258" r:id="rId6"/>
    <p:sldId id="259" r:id="rId7"/>
    <p:sldId id="260" r:id="rId8"/>
    <p:sldId id="261" r:id="rId9"/>
    <p:sldId id="265" r:id="rId10"/>
    <p:sldId id="267" r:id="rId11"/>
    <p:sldId id="268" r:id="rId12"/>
    <p:sldId id="269" r:id="rId13"/>
    <p:sldId id="270" r:id="rId14"/>
    <p:sldId id="271" r:id="rId15"/>
    <p:sldId id="273" r:id="rId16"/>
    <p:sldId id="274" r:id="rId17"/>
    <p:sldId id="27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rcRect b="3795"/>
          <a:stretch>
            <a:fillRect/>
          </a:stretch>
        </p:blipFill>
        <p:spPr>
          <a:xfrm>
            <a:off x="0" y="260350"/>
            <a:ext cx="12192000" cy="6597650"/>
          </a:xfrm>
          <a:prstGeom prst="rect">
            <a:avLst/>
          </a:prstGeom>
          <a:noFill/>
          <a:ln w="9525">
            <a:noFill/>
          </a:ln>
        </p:spPr>
      </p:pic>
      <p:sp>
        <p:nvSpPr>
          <p:cNvPr id="2051" name="Rectangle 3"/>
          <p:cNvSpPr>
            <a:spLocks noGrp="1" noChangeArrowheads="1"/>
          </p:cNvSpPr>
          <p:nvPr>
            <p:ph type="ctrTitle"/>
          </p:nvPr>
        </p:nvSpPr>
        <p:spPr>
          <a:xfrm>
            <a:off x="624417" y="620713"/>
            <a:ext cx="10943167" cy="1082675"/>
          </a:xfrm>
        </p:spPr>
        <p:txBody>
          <a:bodyPr/>
          <a:lstStyle>
            <a:lvl1pP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1843088"/>
            <a:ext cx="10949517" cy="981075"/>
          </a:xfrm>
        </p:spPr>
        <p:txBody>
          <a:bodyPr/>
          <a:lstStyle>
            <a:lvl1pPr marL="0" indent="0">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2"/>
          <p:cNvPicPr>
            <a:picLocks noChangeAspect="1"/>
          </p:cNvPicPr>
          <p:nvPr/>
        </p:nvPicPr>
        <p:blipFill>
          <a:blip r:embed="rId13"/>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vi-VN" altLang="en-US" dirty="0"/>
              <a:t>Xe Oto </a:t>
            </a:r>
            <a:r>
              <a:rPr lang="vi-VN" altLang="en-US" dirty="0"/>
              <a:t>Điện</a:t>
            </a:r>
            <a:endParaRPr lang="vi-VN" altLang="en-US" dirty="0"/>
          </a:p>
        </p:txBody>
      </p:sp>
      <p:sp>
        <p:nvSpPr>
          <p:cNvPr id="3" name="Subtitle 2"/>
          <p:cNvSpPr>
            <a:spLocks noGrp="1"/>
          </p:cNvSpPr>
          <p:nvPr>
            <p:ph type="subTitle" idx="1"/>
          </p:nvPr>
        </p:nvSpPr>
        <p:spPr/>
        <p:txBody>
          <a:bodyPr/>
          <a:lstStyle/>
          <a:p>
            <a:r>
              <a:rPr lang="vi-VN" altLang="en-US"/>
              <a:t>Người Soạn :Nguyễn Quang </a:t>
            </a:r>
            <a:r>
              <a:rPr lang="vi-VN" altLang="en-US"/>
              <a:t>Huy</a:t>
            </a:r>
            <a:endParaRPr lang="vi-V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570865"/>
            <a:ext cx="10972800" cy="202565"/>
          </a:xfrm>
        </p:spPr>
        <p:txBody>
          <a:bodyPr/>
          <a:p>
            <a:r>
              <a:rPr lang="vi-VN" altLang="en-US" sz="1800" b="1"/>
              <a:t>1</a:t>
            </a:r>
            <a:r>
              <a:rPr lang="en-US" altLang="en-US" sz="1800"/>
              <a:t>. Xe </a:t>
            </a:r>
            <a:r>
              <a:rPr lang="en-US" altLang="en-US" sz="1800"/>
              <a:t>đ</a:t>
            </a:r>
            <a:r>
              <a:rPr lang="en-US" altLang="en-US" sz="1800"/>
              <a:t>iện (EV – Electric Vehicle)</a:t>
            </a:r>
            <a:br>
              <a:rPr lang="en-US" altLang="en-US" sz="1800"/>
            </a:br>
            <a:br>
              <a:rPr lang="en-US" altLang="en-US" sz="1800"/>
            </a:br>
            <a:r>
              <a:rPr lang="en-US" altLang="en-US" sz="1800"/>
              <a:t>Xe </a:t>
            </a:r>
            <a:r>
              <a:rPr lang="en-US" altLang="en-US" sz="1800"/>
              <a:t>đ</a:t>
            </a:r>
            <a:r>
              <a:rPr lang="en-US" altLang="en-US" sz="1800"/>
              <a:t>iện là loại xe sử dụng </a:t>
            </a:r>
            <a:r>
              <a:rPr lang="en-US" altLang="en-US" sz="1800"/>
              <a:t>đ</a:t>
            </a:r>
            <a:r>
              <a:rPr lang="en-US" altLang="en-US" sz="1800"/>
              <a:t>ộng cơ </a:t>
            </a:r>
            <a:r>
              <a:rPr lang="en-US" altLang="en-US" sz="1800"/>
              <a:t>đ</a:t>
            </a:r>
            <a:r>
              <a:rPr lang="en-US" altLang="en-US" sz="1800"/>
              <a:t>iện thay cho </a:t>
            </a:r>
            <a:r>
              <a:rPr lang="en-US" altLang="en-US" sz="1800"/>
              <a:t>đ</a:t>
            </a:r>
            <a:r>
              <a:rPr lang="en-US" altLang="en-US" sz="1800"/>
              <a:t>ộng cơ </a:t>
            </a:r>
            <a:r>
              <a:rPr lang="en-US" altLang="en-US" sz="1800"/>
              <a:t>đ</a:t>
            </a:r>
            <a:r>
              <a:rPr lang="en-US" altLang="en-US" sz="1800"/>
              <a:t>ốt trong. N</a:t>
            </a:r>
            <a:r>
              <a:rPr lang="en-US" altLang="en-US" sz="1800"/>
              <a:t>ă</a:t>
            </a:r>
            <a:r>
              <a:rPr lang="en-US" altLang="en-US" sz="1800"/>
              <a:t>ng l</a:t>
            </a:r>
            <a:r>
              <a:rPr lang="en-US" altLang="en-US" sz="1800"/>
              <a:t>ư</a:t>
            </a:r>
            <a:r>
              <a:rPr lang="en-US" altLang="en-US" sz="1800"/>
              <a:t>ợng </a:t>
            </a:r>
            <a:r>
              <a:rPr lang="en-US" altLang="en-US" sz="1800"/>
              <a:t>đư</a:t>
            </a:r>
            <a:r>
              <a:rPr lang="en-US" altLang="en-US" sz="1800"/>
              <a:t>ợc l</a:t>
            </a:r>
            <a:r>
              <a:rPr lang="en-US" altLang="en-US" sz="1800"/>
              <a:t>ư</a:t>
            </a:r>
            <a:r>
              <a:rPr lang="en-US" altLang="en-US" sz="1800"/>
              <a:t>u trữ trong pin (Battery Pack) và cung cấp cho </a:t>
            </a:r>
            <a:r>
              <a:rPr lang="en-US" altLang="en-US" sz="1800"/>
              <a:t>đ</a:t>
            </a:r>
            <a:r>
              <a:rPr lang="en-US" altLang="en-US" sz="1800"/>
              <a:t>ộng cơ </a:t>
            </a:r>
            <a:r>
              <a:rPr lang="en-US" altLang="en-US" sz="1800"/>
              <a:t>đ</a:t>
            </a:r>
            <a:r>
              <a:rPr lang="en-US" altLang="en-US" sz="1800"/>
              <a:t>iện thông qua bộ </a:t>
            </a:r>
            <a:r>
              <a:rPr lang="en-US" altLang="en-US" sz="1800"/>
              <a:t>đ</a:t>
            </a:r>
            <a:r>
              <a:rPr lang="en-US" altLang="en-US" sz="1800"/>
              <a:t>iều khiển công suất (Inverter/Controller).</a:t>
            </a:r>
            <a:endParaRPr lang="en-US" altLang="en-US" sz="1800"/>
          </a:p>
        </p:txBody>
      </p:sp>
      <p:sp>
        <p:nvSpPr>
          <p:cNvPr id="4" name="Text Box 3"/>
          <p:cNvSpPr txBox="1"/>
          <p:nvPr/>
        </p:nvSpPr>
        <p:spPr>
          <a:xfrm>
            <a:off x="750570" y="1594485"/>
            <a:ext cx="7885430" cy="3110865"/>
          </a:xfrm>
          <a:prstGeom prst="rect">
            <a:avLst/>
          </a:prstGeom>
        </p:spPr>
        <p:txBody>
          <a:bodyPr wrap="square">
            <a:noAutofit/>
          </a:bodyPr>
          <a:p>
            <a:r>
              <a:rPr sz="1600"/>
              <a:t>Cấu tạo chính:</a:t>
            </a:r>
            <a:endParaRPr sz="1600"/>
          </a:p>
          <a:p>
            <a:endParaRPr sz="1600"/>
          </a:p>
          <a:p>
            <a:pPr>
              <a:buFont typeface="Arial" panose="020B0604020202020204"/>
              <a:buChar char="•"/>
            </a:pPr>
            <a:r>
              <a:rPr sz="1600"/>
              <a:t>Pin điện áp cao (Lithium-ion, LFP...)</a:t>
            </a:r>
            <a:endParaRPr sz="1600"/>
          </a:p>
          <a:p>
            <a:pPr>
              <a:buFont typeface="Arial" panose="020B0604020202020204"/>
              <a:buChar char="•"/>
            </a:pPr>
            <a:endParaRPr sz="1600"/>
          </a:p>
          <a:p>
            <a:pPr>
              <a:buFont typeface="Arial" panose="020B0604020202020204"/>
              <a:buChar char="•"/>
            </a:pPr>
            <a:r>
              <a:rPr sz="1600"/>
              <a:t>Bộ sạc (On-board charger)</a:t>
            </a:r>
            <a:endParaRPr sz="1600"/>
          </a:p>
          <a:p>
            <a:pPr>
              <a:buFont typeface="Arial" panose="020B0604020202020204"/>
              <a:buChar char="•"/>
            </a:pPr>
            <a:endParaRPr sz="1600"/>
          </a:p>
          <a:p>
            <a:pPr>
              <a:buFont typeface="Arial" panose="020B0604020202020204"/>
              <a:buChar char="•"/>
            </a:pPr>
            <a:r>
              <a:rPr sz="1600"/>
              <a:t>Động cơ điện (Motor)</a:t>
            </a:r>
            <a:endParaRPr sz="1600"/>
          </a:p>
          <a:p>
            <a:pPr>
              <a:buFont typeface="Arial" panose="020B0604020202020204"/>
              <a:buChar char="•"/>
            </a:pPr>
            <a:endParaRPr sz="1600"/>
          </a:p>
          <a:p>
            <a:pPr>
              <a:buFont typeface="Arial" panose="020B0604020202020204"/>
              <a:buChar char="•"/>
            </a:pPr>
            <a:r>
              <a:rPr sz="1600"/>
              <a:t>Bộ điều khiển công suất (Inverter)</a:t>
            </a:r>
            <a:endParaRPr sz="1600"/>
          </a:p>
          <a:p>
            <a:pPr>
              <a:buFont typeface="Arial" panose="020B0604020202020204"/>
              <a:buChar char="•"/>
            </a:pPr>
            <a:endParaRPr sz="1600"/>
          </a:p>
          <a:p>
            <a:pPr>
              <a:buFont typeface="Arial" panose="020B0604020202020204"/>
              <a:buChar char="•"/>
            </a:pPr>
            <a:r>
              <a:rPr sz="1600"/>
              <a:t>Hệ thống truyền động đơn giản (thường không có hộp số phức tạp như xe xăng)</a:t>
            </a:r>
            <a:endParaRPr sz="1600"/>
          </a:p>
        </p:txBody>
      </p:sp>
      <p:pic>
        <p:nvPicPr>
          <p:cNvPr id="3" name="Picture 2"/>
          <p:cNvPicPr>
            <a:picLocks noChangeAspect="1"/>
          </p:cNvPicPr>
          <p:nvPr/>
        </p:nvPicPr>
        <p:blipFill>
          <a:blip r:embed="rId1"/>
          <a:stretch>
            <a:fillRect/>
          </a:stretch>
        </p:blipFill>
        <p:spPr>
          <a:xfrm>
            <a:off x="4509770" y="1226820"/>
            <a:ext cx="6687820" cy="28289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603885" y="399415"/>
            <a:ext cx="10841355" cy="4089400"/>
          </a:xfrm>
          <a:prstGeom prst="rect">
            <a:avLst/>
          </a:prstGeom>
        </p:spPr>
        <p:txBody>
          <a:bodyPr wrap="square">
            <a:noAutofit/>
          </a:bodyPr>
          <a:p>
            <a:pPr>
              <a:spcAft>
                <a:spcPct val="0"/>
              </a:spcAft>
            </a:pPr>
            <a:r>
              <a:rPr b="1">
                <a:latin typeface="Times New Roman" panose="02020603050405020304" charset="0"/>
                <a:cs typeface="Times New Roman" panose="02020603050405020304" charset="0"/>
              </a:rPr>
              <a:t>2. Ưu và nhược điểm của xe điện</a:t>
            </a:r>
            <a:endParaRPr b="1">
              <a:latin typeface="Times New Roman" panose="02020603050405020304" charset="0"/>
              <a:cs typeface="Times New Roman" panose="02020603050405020304" charset="0"/>
            </a:endParaRPr>
          </a:p>
          <a:p>
            <a:pPr>
              <a:spcAft>
                <a:spcPct val="0"/>
              </a:spcAft>
            </a:pPr>
            <a:r>
              <a:rPr b="1">
                <a:latin typeface="Times New Roman" panose="02020603050405020304" charset="0"/>
                <a:cs typeface="Times New Roman" panose="02020603050405020304" charset="0"/>
              </a:rPr>
              <a:t>Ưu điểm:</a:t>
            </a:r>
            <a:endParaRPr b="1">
              <a:latin typeface="Times New Roman" panose="02020603050405020304" charset="0"/>
              <a:cs typeface="Times New Roman" panose="02020603050405020304" charset="0"/>
            </a:endParaRPr>
          </a:p>
          <a:p>
            <a:pPr>
              <a:spcAft>
                <a:spcPct val="0"/>
              </a:spcAft>
            </a:pPr>
            <a:endParaRPr sz="2200" b="1"/>
          </a:p>
          <a:p>
            <a:pPr>
              <a:buFont typeface="Arial" panose="020B0604020202020204"/>
              <a:buChar char="•"/>
            </a:pPr>
            <a:r>
              <a:rPr sz="1600"/>
              <a:t>Thân thiện môi trường: Không phát thải trực tiếp CO, NOx, HC, CO₂.</a:t>
            </a:r>
            <a:endParaRPr sz="1600"/>
          </a:p>
          <a:p>
            <a:pPr>
              <a:buFont typeface="Arial" panose="020B0604020202020204"/>
              <a:buChar char="•"/>
            </a:pPr>
            <a:endParaRPr sz="1600"/>
          </a:p>
          <a:p>
            <a:pPr>
              <a:buFont typeface="Arial" panose="020B0604020202020204"/>
              <a:buChar char="•"/>
            </a:pPr>
            <a:r>
              <a:rPr sz="1600"/>
              <a:t>Hiệu suất cao: Hiệu suất động cơ điện có thể đạt 85–95%, cao hơn động cơ xăng (30–40%).</a:t>
            </a:r>
            <a:endParaRPr sz="1600"/>
          </a:p>
          <a:p>
            <a:pPr>
              <a:buFont typeface="Arial" panose="020B0604020202020204"/>
              <a:buChar char="•"/>
            </a:pPr>
            <a:endParaRPr sz="1600"/>
          </a:p>
          <a:p>
            <a:pPr>
              <a:buFont typeface="Arial" panose="020B0604020202020204"/>
              <a:buChar char="•"/>
            </a:pPr>
            <a:r>
              <a:rPr sz="1600"/>
              <a:t>Tiết kiệm chi phí nhiên liệu: Chi phí sạc pin rẻ hơn nhiều so với xăng/dầu.</a:t>
            </a:r>
            <a:endParaRPr sz="1600"/>
          </a:p>
          <a:p>
            <a:pPr>
              <a:buFont typeface="Arial" panose="020B0604020202020204"/>
              <a:buChar char="•"/>
            </a:pPr>
            <a:endParaRPr sz="1600"/>
          </a:p>
          <a:p>
            <a:pPr>
              <a:buFont typeface="Arial" panose="020B0604020202020204"/>
              <a:buChar char="•"/>
            </a:pPr>
            <a:r>
              <a:rPr sz="1600"/>
              <a:t>Bảo dưỡng đơn giản: Ít chi tiết cơ khí (không cần thay dầu máy, bugi, lọc gió động cơ…).</a:t>
            </a:r>
            <a:endParaRPr sz="1600"/>
          </a:p>
          <a:p>
            <a:pPr>
              <a:buFont typeface="Arial" panose="020B0604020202020204"/>
              <a:buChar char="•"/>
            </a:pPr>
            <a:endParaRPr sz="1600"/>
          </a:p>
          <a:p>
            <a:pPr>
              <a:buFont typeface="Arial" panose="020B0604020202020204"/>
              <a:buChar char="•"/>
            </a:pPr>
            <a:r>
              <a:rPr sz="1600"/>
              <a:t>Tăng tốc nhanh và êm ái: Mô-men xoắn cực đại có ngay từ tốc độ thấp.</a:t>
            </a:r>
            <a:endParaRPr sz="1600"/>
          </a:p>
          <a:p>
            <a:pPr>
              <a:buFont typeface="Arial" panose="020B0604020202020204"/>
              <a:buChar char="•"/>
            </a:pPr>
            <a:endParaRPr sz="1600"/>
          </a:p>
          <a:p>
            <a:pPr>
              <a:buFont typeface="Arial" panose="020B0604020202020204"/>
              <a:buChar char="•"/>
            </a:pPr>
            <a:r>
              <a:rPr sz="1600"/>
              <a:t>Độ ồn thấp, vận hành mượt.</a:t>
            </a:r>
            <a:endParaRPr sz="1600"/>
          </a:p>
        </p:txBody>
      </p:sp>
      <p:pic>
        <p:nvPicPr>
          <p:cNvPr id="3" name="Picture 2"/>
          <p:cNvPicPr>
            <a:picLocks noChangeAspect="1"/>
          </p:cNvPicPr>
          <p:nvPr/>
        </p:nvPicPr>
        <p:blipFill>
          <a:blip r:embed="rId1"/>
          <a:stretch>
            <a:fillRect/>
          </a:stretch>
        </p:blipFill>
        <p:spPr>
          <a:xfrm>
            <a:off x="7026275" y="57785"/>
            <a:ext cx="5165725" cy="167259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32460" y="470535"/>
            <a:ext cx="10893425" cy="4327525"/>
          </a:xfrm>
          <a:prstGeom prst="rect">
            <a:avLst/>
          </a:prstGeom>
        </p:spPr>
        <p:txBody>
          <a:bodyPr wrap="square">
            <a:noAutofit/>
          </a:bodyPr>
          <a:p>
            <a:pPr>
              <a:spcAft>
                <a:spcPct val="0"/>
              </a:spcAft>
            </a:pPr>
            <a:r>
              <a:rPr b="1"/>
              <a:t>Nhược điểm:</a:t>
            </a:r>
            <a:endParaRPr b="1"/>
          </a:p>
          <a:p>
            <a:pPr>
              <a:spcAft>
                <a:spcPct val="0"/>
              </a:spcAft>
            </a:pPr>
            <a:endParaRPr sz="2200" b="1"/>
          </a:p>
          <a:p>
            <a:pPr>
              <a:buFont typeface="Arial" panose="020B0604020202020204"/>
              <a:buChar char="•"/>
            </a:pPr>
            <a:r>
              <a:rPr sz="1600"/>
              <a:t>Quãng đường giới hạn: Thông thường 250–500 km mỗi lần sạc, kém hơn xe xăng/dầu.</a:t>
            </a:r>
            <a:endParaRPr sz="1600"/>
          </a:p>
          <a:p>
            <a:pPr>
              <a:buFont typeface="Arial" panose="020B0604020202020204"/>
              <a:buChar char="•"/>
            </a:pPr>
            <a:endParaRPr sz="1600"/>
          </a:p>
          <a:p>
            <a:pPr>
              <a:buFont typeface="Arial" panose="020B0604020202020204"/>
              <a:buChar char="•"/>
            </a:pPr>
            <a:r>
              <a:rPr sz="1600"/>
              <a:t>Thời gian sạc lâu: Sạc thường 6–12 giờ, sạc nhanh 30–60 phút (nhưng làm giảm tuổi thọ pin).</a:t>
            </a:r>
            <a:endParaRPr sz="1600"/>
          </a:p>
          <a:p>
            <a:pPr>
              <a:buFont typeface="Arial" panose="020B0604020202020204"/>
              <a:buChar char="•"/>
            </a:pPr>
            <a:endParaRPr sz="1600"/>
          </a:p>
          <a:p>
            <a:pPr>
              <a:buFont typeface="Arial" panose="020B0604020202020204"/>
              <a:buChar char="•"/>
            </a:pPr>
            <a:r>
              <a:rPr sz="1600"/>
              <a:t>Hạ tầng trạm sạc chưa đồng bộ (nhất là ở Việt Nam).</a:t>
            </a:r>
            <a:endParaRPr sz="1600"/>
          </a:p>
          <a:p>
            <a:pPr>
              <a:buFont typeface="Arial" panose="020B0604020202020204"/>
              <a:buChar char="•"/>
            </a:pPr>
            <a:endParaRPr sz="1600"/>
          </a:p>
          <a:p>
            <a:pPr>
              <a:buFont typeface="Arial" panose="020B0604020202020204"/>
              <a:buChar char="•"/>
            </a:pPr>
            <a:r>
              <a:rPr sz="1600"/>
              <a:t>Giá thành pin cao: Pin chiếm 30–40% giá xe, tuổi thọ trung bình 8–10 năm.</a:t>
            </a:r>
            <a:endParaRPr sz="1600"/>
          </a:p>
          <a:p>
            <a:pPr>
              <a:buFont typeface="Arial" panose="020B0604020202020204"/>
              <a:buChar char="•"/>
            </a:pPr>
            <a:endParaRPr sz="1600"/>
          </a:p>
          <a:p>
            <a:pPr>
              <a:buFont typeface="Arial" panose="020B0604020202020204"/>
              <a:buChar char="•"/>
            </a:pPr>
            <a:r>
              <a:rPr sz="1600"/>
              <a:t>Khó khăn ở vùng xa, đi đường dài.</a:t>
            </a:r>
            <a:endParaRPr sz="1600"/>
          </a:p>
        </p:txBody>
      </p:sp>
      <p:pic>
        <p:nvPicPr>
          <p:cNvPr id="2" name="Picture 1"/>
          <p:cNvPicPr>
            <a:picLocks noChangeAspect="1"/>
          </p:cNvPicPr>
          <p:nvPr/>
        </p:nvPicPr>
        <p:blipFill>
          <a:blip r:embed="rId1"/>
          <a:stretch>
            <a:fillRect/>
          </a:stretch>
        </p:blipFill>
        <p:spPr>
          <a:xfrm>
            <a:off x="4021455" y="2829560"/>
            <a:ext cx="5772150" cy="30632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6"/>
          <p:cNvSpPr txBox="1"/>
          <p:nvPr/>
        </p:nvSpPr>
        <p:spPr>
          <a:xfrm>
            <a:off x="502920" y="90170"/>
            <a:ext cx="11360785" cy="5706745"/>
          </a:xfrm>
          <a:prstGeom prst="rect">
            <a:avLst/>
          </a:prstGeom>
        </p:spPr>
        <p:txBody>
          <a:bodyPr wrap="square">
            <a:noAutofit/>
          </a:bodyPr>
          <a:p>
            <a:pPr>
              <a:spcAft>
                <a:spcPct val="0"/>
              </a:spcAft>
            </a:pPr>
            <a:r>
              <a:rPr b="1">
                <a:latin typeface="Times New Roman" panose="02020603050405020304" charset="0"/>
                <a:cs typeface="Times New Roman" panose="02020603050405020304" charset="0"/>
              </a:rPr>
              <a:t>Ưu điểm của xe lai không sạc (HEV):</a:t>
            </a:r>
            <a:endParaRPr b="1">
              <a:latin typeface="Times New Roman" panose="02020603050405020304" charset="0"/>
              <a:cs typeface="Times New Roman" panose="02020603050405020304" charset="0"/>
            </a:endParaRPr>
          </a:p>
          <a:p>
            <a:pPr>
              <a:spcAft>
                <a:spcPct val="0"/>
              </a:spcAft>
            </a:pPr>
            <a:endParaRPr b="1">
              <a:latin typeface="Times New Roman" panose="02020603050405020304" charset="0"/>
              <a:cs typeface="Times New Roman" panose="02020603050405020304" charset="0"/>
            </a:endParaRPr>
          </a:p>
          <a:p>
            <a:pPr>
              <a:buAutoNum type="arabicPeriod"/>
            </a:pPr>
            <a:r>
              <a:rPr sz="1600"/>
              <a:t>Tiết kiệm nhiên liệu:</a:t>
            </a:r>
            <a:endParaRPr sz="1600"/>
          </a:p>
          <a:p>
            <a:pPr>
              <a:buAutoNum type="arabicPeriod"/>
            </a:pPr>
            <a:endParaRPr sz="1600"/>
          </a:p>
          <a:p>
            <a:pPr lvl="1">
              <a:buFont typeface="Arial" panose="020B0604020202020204"/>
              <a:buChar char="◦"/>
            </a:pPr>
            <a:r>
              <a:rPr sz="1600"/>
              <a:t>Khi chạy tốc độ thấp, xe có thể dùng động cơ điện nên giảm tiêu hao xăng.</a:t>
            </a:r>
            <a:endParaRPr sz="1600"/>
          </a:p>
          <a:p>
            <a:pPr lvl="1">
              <a:buFont typeface="Arial" panose="020B0604020202020204"/>
              <a:buChar char="◦"/>
            </a:pPr>
            <a:endParaRPr sz="1600"/>
          </a:p>
          <a:p>
            <a:pPr lvl="1">
              <a:buFont typeface="Arial" panose="020B0604020202020204"/>
              <a:buChar char="◦"/>
            </a:pPr>
            <a:r>
              <a:rPr sz="1600"/>
              <a:t>Mức tiết kiệm 20–40% so với xe xăng thông thường.</a:t>
            </a:r>
            <a:endParaRPr sz="1600"/>
          </a:p>
          <a:p>
            <a:pPr lvl="1">
              <a:buFont typeface="Arial" panose="020B0604020202020204"/>
              <a:buChar char="◦"/>
            </a:pPr>
            <a:endParaRPr sz="1600"/>
          </a:p>
          <a:p>
            <a:pPr indent="0">
              <a:buNone/>
            </a:pPr>
            <a:r>
              <a:rPr lang="vi-VN" sz="1600"/>
              <a:t>2.K</a:t>
            </a:r>
            <a:r>
              <a:rPr sz="1600"/>
              <a:t>hông cần hạ tầng sạc điện:</a:t>
            </a:r>
            <a:endParaRPr sz="1600"/>
          </a:p>
          <a:p>
            <a:pPr lvl="1">
              <a:buFont typeface="Arial" panose="020B0604020202020204"/>
              <a:buChar char="◦"/>
            </a:pPr>
            <a:endParaRPr sz="1600"/>
          </a:p>
          <a:p>
            <a:pPr lvl="1">
              <a:buFont typeface="Arial" panose="020B0604020202020204"/>
              <a:buChar char="◦"/>
            </a:pPr>
            <a:r>
              <a:rPr sz="1600"/>
              <a:t>Không phải lo tìm trạm sạc hay chờ sạc pin.</a:t>
            </a:r>
            <a:endParaRPr sz="1600"/>
          </a:p>
          <a:p>
            <a:pPr lvl="1">
              <a:buFont typeface="Arial" panose="020B0604020202020204"/>
              <a:buChar char="◦"/>
            </a:pPr>
            <a:endParaRPr sz="1600"/>
          </a:p>
          <a:p>
            <a:pPr lvl="1">
              <a:buFont typeface="Arial" panose="020B0604020202020204"/>
              <a:buChar char="◦"/>
            </a:pPr>
            <a:r>
              <a:rPr sz="1600"/>
              <a:t>Phù hợp ở Việt Nam vì mạng lưới trạm sạc còn ít.</a:t>
            </a:r>
            <a:endParaRPr sz="1600"/>
          </a:p>
          <a:p>
            <a:pPr lvl="1">
              <a:buFont typeface="Arial" panose="020B0604020202020204"/>
              <a:buChar char="◦"/>
            </a:pPr>
            <a:endParaRPr sz="1600"/>
          </a:p>
          <a:p>
            <a:pPr indent="0">
              <a:buNone/>
            </a:pPr>
            <a:r>
              <a:rPr lang="vi-VN" sz="1600"/>
              <a:t>3.</a:t>
            </a:r>
            <a:r>
              <a:rPr sz="1600"/>
              <a:t>Giảm khí thải độc hại:</a:t>
            </a:r>
            <a:endParaRPr sz="1600"/>
          </a:p>
          <a:p>
            <a:pPr>
              <a:buAutoNum type="arabicPeriod"/>
            </a:pPr>
            <a:endParaRPr sz="1600"/>
          </a:p>
          <a:p>
            <a:pPr lvl="1">
              <a:buFont typeface="Arial" panose="020B0604020202020204"/>
              <a:buChar char="◦"/>
            </a:pPr>
            <a:r>
              <a:rPr sz="1600"/>
              <a:t>Lượng CO₂ và khí độc (CO, NOx, HC) thấp hơn nhiều so với xe xăng.</a:t>
            </a:r>
            <a:endParaRPr sz="1600"/>
          </a:p>
          <a:p>
            <a:pPr lvl="1">
              <a:buFont typeface="Arial" panose="020B0604020202020204"/>
              <a:buChar char="◦"/>
            </a:pPr>
            <a:endParaRPr sz="1600"/>
          </a:p>
          <a:p>
            <a:pPr indent="0">
              <a:buNone/>
            </a:pPr>
            <a:r>
              <a:rPr lang="vi-VN" sz="1600"/>
              <a:t>4.</a:t>
            </a:r>
            <a:r>
              <a:rPr sz="1600"/>
              <a:t>Vận hành êm ái:</a:t>
            </a:r>
            <a:endParaRPr sz="1600"/>
          </a:p>
          <a:p>
            <a:pPr>
              <a:buAutoNum type="arabicPeriod"/>
            </a:pPr>
            <a:endParaRPr sz="1600"/>
          </a:p>
          <a:p>
            <a:pPr lvl="1">
              <a:buFont typeface="Arial" panose="020B0604020202020204"/>
              <a:buChar char="◦"/>
            </a:pPr>
            <a:r>
              <a:rPr sz="1600"/>
              <a:t>Động cơ điện hỗ trợ khi khởi động, tăng tốc → xe chạy mượt, ít rung.</a:t>
            </a:r>
            <a:endParaRPr sz="1600"/>
          </a:p>
        </p:txBody>
      </p:sp>
      <p:pic>
        <p:nvPicPr>
          <p:cNvPr id="2" name="Picture 1"/>
          <p:cNvPicPr>
            <a:picLocks noChangeAspect="1"/>
          </p:cNvPicPr>
          <p:nvPr/>
        </p:nvPicPr>
        <p:blipFill>
          <a:blip r:embed="rId1"/>
          <a:stretch>
            <a:fillRect/>
          </a:stretch>
        </p:blipFill>
        <p:spPr>
          <a:xfrm>
            <a:off x="6278880" y="1505585"/>
            <a:ext cx="5400040" cy="249364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513080" y="407670"/>
            <a:ext cx="11230610" cy="5247005"/>
          </a:xfrm>
          <a:prstGeom prst="rect">
            <a:avLst/>
          </a:prstGeom>
        </p:spPr>
        <p:txBody>
          <a:bodyPr wrap="square">
            <a:noAutofit/>
          </a:bodyPr>
          <a:p>
            <a:r>
              <a:rPr lang="vi-VN" sz="1600"/>
              <a:t>5.</a:t>
            </a:r>
            <a:r>
              <a:rPr sz="1600"/>
              <a:t>Độ bền pin cao:</a:t>
            </a:r>
            <a:endParaRPr sz="1600"/>
          </a:p>
          <a:p>
            <a:endParaRPr sz="1600"/>
          </a:p>
          <a:p>
            <a:pPr>
              <a:buFont typeface="Arial" panose="020B0604020202020204"/>
              <a:buChar char="•"/>
            </a:pPr>
            <a:r>
              <a:rPr sz="1600"/>
              <a:t>Pin nhỏ hơn PHEV/EV, sạc xả trong khoảng dung lượng an toàn → tuổi thọ pin thường &gt;10 năm.</a:t>
            </a:r>
            <a:endParaRPr sz="1600"/>
          </a:p>
          <a:p>
            <a:pPr>
              <a:buFont typeface="Arial" panose="020B0604020202020204"/>
              <a:buChar char="•"/>
            </a:pPr>
            <a:endParaRPr sz="1600"/>
          </a:p>
          <a:p>
            <a:r>
              <a:rPr lang="vi-VN" sz="1600"/>
              <a:t>6.</a:t>
            </a:r>
            <a:r>
              <a:rPr sz="1600"/>
              <a:t>Chi phí bảo dưỡng hợp lý:</a:t>
            </a:r>
            <a:endParaRPr sz="1600"/>
          </a:p>
          <a:p>
            <a:endParaRPr sz="1600"/>
          </a:p>
          <a:p>
            <a:pPr>
              <a:buFont typeface="Arial" panose="020B0604020202020204"/>
              <a:buChar char="•"/>
            </a:pPr>
            <a:r>
              <a:rPr sz="1600"/>
              <a:t>Bảo dưỡng động cơ xăng ít hao mòn hơn vì có động cơ điện hỗ trợ.</a:t>
            </a:r>
            <a:endParaRPr sz="1600"/>
          </a:p>
          <a:p>
            <a:pPr>
              <a:buFont typeface="Arial" panose="020B0604020202020204"/>
              <a:buChar char="•"/>
            </a:pPr>
            <a:endParaRPr sz="1600"/>
          </a:p>
          <a:p>
            <a:pPr>
              <a:buFont typeface="Arial" panose="020B0604020202020204"/>
              <a:buChar char="•"/>
            </a:pPr>
            <a:r>
              <a:rPr sz="1600"/>
              <a:t>Pin hybrid được thiết kế bền, ít phải thay.</a:t>
            </a:r>
            <a:endParaRPr sz="1600"/>
          </a:p>
          <a:p>
            <a:pPr>
              <a:buFont typeface="Arial" panose="020B0604020202020204"/>
              <a:buChar char="•"/>
            </a:pPr>
            <a:endParaRPr sz="1600"/>
          </a:p>
          <a:p>
            <a:r>
              <a:rPr lang="vi-VN" sz="1600"/>
              <a:t>7.</a:t>
            </a:r>
            <a:r>
              <a:rPr sz="1600"/>
              <a:t>Phù hợp cho cả đường đô thị và đường dài:</a:t>
            </a:r>
            <a:endParaRPr sz="1600"/>
          </a:p>
          <a:p>
            <a:endParaRPr sz="1600"/>
          </a:p>
          <a:p>
            <a:pPr>
              <a:buFont typeface="Arial" panose="020B0604020202020204"/>
              <a:buChar char="•"/>
            </a:pPr>
            <a:r>
              <a:rPr sz="1600"/>
              <a:t>Trong phố → chạy điện nhiều, tiết kiệm.</a:t>
            </a:r>
            <a:endParaRPr sz="1600"/>
          </a:p>
          <a:p>
            <a:pPr>
              <a:buFont typeface="Arial" panose="020B0604020202020204"/>
              <a:buChar char="•"/>
            </a:pPr>
            <a:endParaRPr sz="1600"/>
          </a:p>
          <a:p>
            <a:pPr>
              <a:buFont typeface="Arial" panose="020B0604020202020204"/>
              <a:buChar char="•"/>
            </a:pPr>
            <a:r>
              <a:rPr sz="1600"/>
              <a:t>Đường trường → động cơ xăng kết hợp điện, hiệu quả cao.</a:t>
            </a:r>
            <a:endParaRPr sz="1600"/>
          </a:p>
        </p:txBody>
      </p:sp>
      <p:pic>
        <p:nvPicPr>
          <p:cNvPr id="2" name="Picture 1"/>
          <p:cNvPicPr>
            <a:picLocks noChangeAspect="1"/>
          </p:cNvPicPr>
          <p:nvPr/>
        </p:nvPicPr>
        <p:blipFill>
          <a:blip r:embed="rId1"/>
          <a:stretch>
            <a:fillRect/>
          </a:stretch>
        </p:blipFill>
        <p:spPr>
          <a:xfrm>
            <a:off x="6155055" y="2330450"/>
            <a:ext cx="5038725" cy="33242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28295" y="88265"/>
            <a:ext cx="11480165" cy="5709920"/>
          </a:xfrm>
          <a:prstGeom prst="rect">
            <a:avLst/>
          </a:prstGeom>
        </p:spPr>
        <p:txBody>
          <a:bodyPr wrap="square">
            <a:noAutofit/>
          </a:bodyPr>
          <a:p>
            <a:pPr>
              <a:spcAft>
                <a:spcPct val="0"/>
              </a:spcAft>
            </a:pPr>
            <a:r>
              <a:rPr sz="2300" b="1"/>
              <a:t> </a:t>
            </a:r>
            <a:r>
              <a:rPr b="1">
                <a:latin typeface="Times New Roman" panose="02020603050405020304" charset="0"/>
                <a:cs typeface="Times New Roman" panose="02020603050405020304" charset="0"/>
              </a:rPr>
              <a:t>Ưu điểm xe lai có sạc (PHEV):</a:t>
            </a:r>
            <a:endParaRPr b="1">
              <a:latin typeface="Times New Roman" panose="02020603050405020304" charset="0"/>
              <a:cs typeface="Times New Roman" panose="02020603050405020304" charset="0"/>
            </a:endParaRPr>
          </a:p>
          <a:p>
            <a:pPr>
              <a:spcAft>
                <a:spcPct val="0"/>
              </a:spcAft>
            </a:pPr>
            <a:endParaRPr sz="2300" b="1"/>
          </a:p>
          <a:p>
            <a:pPr>
              <a:buAutoNum type="arabicPeriod"/>
            </a:pPr>
            <a:r>
              <a:rPr sz="1600"/>
              <a:t>Chạy được chế độ thuần điện (EV mode):</a:t>
            </a:r>
            <a:endParaRPr sz="1600"/>
          </a:p>
          <a:p>
            <a:pPr>
              <a:buAutoNum type="arabicPeriod"/>
            </a:pPr>
            <a:endParaRPr sz="1600"/>
          </a:p>
          <a:p>
            <a:pPr lvl="1">
              <a:buFont typeface="Arial" panose="020B0604020202020204"/>
              <a:buChar char="◦"/>
            </a:pPr>
            <a:r>
              <a:rPr sz="1600"/>
              <a:t>Có thể chạy hoàn toàn bằng pin ở quãng ngắn → tiết kiệm xăng, giảm khí thải.</a:t>
            </a:r>
            <a:endParaRPr sz="1600"/>
          </a:p>
          <a:p>
            <a:pPr lvl="1">
              <a:buFont typeface="Arial" panose="020B0604020202020204"/>
              <a:buChar char="◦"/>
            </a:pPr>
            <a:endParaRPr sz="1600"/>
          </a:p>
          <a:p>
            <a:pPr lvl="1">
              <a:buFont typeface="Arial" panose="020B0604020202020204"/>
              <a:buChar char="◦"/>
            </a:pPr>
            <a:r>
              <a:rPr sz="1600"/>
              <a:t>Phù hợp khi đi lại trong thành phố hằng ngày.</a:t>
            </a:r>
            <a:endParaRPr sz="1600"/>
          </a:p>
          <a:p>
            <a:pPr lvl="1">
              <a:buFont typeface="Arial" panose="020B0604020202020204"/>
              <a:buChar char="◦"/>
            </a:pPr>
            <a:endParaRPr sz="1600"/>
          </a:p>
          <a:p>
            <a:pPr>
              <a:buAutoNum type="arabicPeriod"/>
            </a:pPr>
            <a:r>
              <a:rPr sz="1600"/>
              <a:t>Tiết kiệm nhiên liệu vượt trội:</a:t>
            </a:r>
            <a:endParaRPr sz="1600"/>
          </a:p>
          <a:p>
            <a:pPr>
              <a:buAutoNum type="arabicPeriod"/>
            </a:pPr>
            <a:endParaRPr sz="1600"/>
          </a:p>
          <a:p>
            <a:pPr lvl="1">
              <a:buFont typeface="Arial" panose="020B0604020202020204"/>
              <a:buChar char="◦"/>
            </a:pPr>
            <a:r>
              <a:rPr sz="1600"/>
              <a:t>Với quãng đường ngắn (dưới 40–60 km), xe gần như không cần dùng xăng.</a:t>
            </a:r>
            <a:endParaRPr sz="1600"/>
          </a:p>
          <a:p>
            <a:pPr lvl="1">
              <a:buFont typeface="Arial" panose="020B0604020202020204"/>
              <a:buChar char="◦"/>
            </a:pPr>
            <a:endParaRPr sz="1600"/>
          </a:p>
          <a:p>
            <a:pPr lvl="1">
              <a:buFont typeface="Arial" panose="020B0604020202020204"/>
              <a:buChar char="◦"/>
            </a:pPr>
            <a:r>
              <a:rPr sz="1600"/>
              <a:t>Trên đường dài, động cơ xăng kết hợp điện giúp tiết kiệm hơn xe truyền thống.</a:t>
            </a:r>
            <a:endParaRPr sz="1600"/>
          </a:p>
          <a:p>
            <a:pPr lvl="1">
              <a:buFont typeface="Arial" panose="020B0604020202020204"/>
              <a:buChar char="◦"/>
            </a:pPr>
            <a:endParaRPr sz="1600"/>
          </a:p>
          <a:p>
            <a:pPr>
              <a:buAutoNum type="arabicPeriod"/>
            </a:pPr>
            <a:r>
              <a:rPr sz="1600"/>
              <a:t>Thân thiện môi trường:</a:t>
            </a:r>
            <a:endParaRPr sz="1600"/>
          </a:p>
          <a:p>
            <a:pPr>
              <a:buAutoNum type="arabicPeriod"/>
            </a:pPr>
            <a:endParaRPr sz="1600"/>
          </a:p>
          <a:p>
            <a:pPr lvl="1">
              <a:buFont typeface="Arial" panose="020B0604020202020204"/>
              <a:buChar char="◦"/>
            </a:pPr>
            <a:r>
              <a:rPr sz="1600"/>
              <a:t>Giảm phát thải CO₂ và khí độc hại so với xe xăng/dầu.</a:t>
            </a:r>
            <a:endParaRPr sz="1600"/>
          </a:p>
          <a:p>
            <a:pPr lvl="1">
              <a:buFont typeface="Arial" panose="020B0604020202020204"/>
              <a:buChar char="◦"/>
            </a:pPr>
            <a:endParaRPr sz="1600"/>
          </a:p>
          <a:p>
            <a:pPr>
              <a:buAutoNum type="arabicPeriod"/>
            </a:pPr>
            <a:r>
              <a:rPr sz="1600"/>
              <a:t>Tăng hiệu suất vận hành:</a:t>
            </a:r>
            <a:endParaRPr sz="1600"/>
          </a:p>
          <a:p>
            <a:pPr>
              <a:buAutoNum type="arabicPeriod"/>
            </a:pPr>
            <a:endParaRPr sz="1600"/>
          </a:p>
          <a:p>
            <a:pPr lvl="1">
              <a:buFont typeface="Arial" panose="020B0604020202020204"/>
              <a:buChar char="◦"/>
            </a:pPr>
            <a:r>
              <a:rPr sz="1600"/>
              <a:t>Động cơ điện hỗ trợ tăng tốc mạnh mẽ, êm ái.</a:t>
            </a:r>
            <a:endParaRPr sz="1600"/>
          </a:p>
          <a:p>
            <a:pPr lvl="1">
              <a:buFont typeface="Arial" panose="020B0604020202020204"/>
              <a:buChar char="◦"/>
            </a:pPr>
            <a:endParaRPr sz="1600"/>
          </a:p>
          <a:p>
            <a:pPr lvl="1">
              <a:buFont typeface="Arial" panose="020B0604020202020204"/>
              <a:buChar char="◦"/>
            </a:pPr>
            <a:r>
              <a:rPr sz="1600"/>
              <a:t>Có thể chuyển linh hoạt giữa chạy điện, chạy xăng hoặc kết hợp cả hai</a:t>
            </a:r>
            <a:endParaRPr sz="1600"/>
          </a:p>
        </p:txBody>
      </p:sp>
      <p:pic>
        <p:nvPicPr>
          <p:cNvPr id="2" name="Picture 1"/>
          <p:cNvPicPr>
            <a:picLocks noChangeAspect="1"/>
          </p:cNvPicPr>
          <p:nvPr/>
        </p:nvPicPr>
        <p:blipFill>
          <a:blip r:embed="rId1"/>
          <a:stretch>
            <a:fillRect/>
          </a:stretch>
        </p:blipFill>
        <p:spPr>
          <a:xfrm>
            <a:off x="8255000" y="88265"/>
            <a:ext cx="3937000" cy="61518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79375" y="197485"/>
            <a:ext cx="11947525" cy="5600700"/>
          </a:xfrm>
          <a:prstGeom prst="rect">
            <a:avLst/>
          </a:prstGeom>
        </p:spPr>
        <p:txBody>
          <a:bodyPr wrap="square">
            <a:noAutofit/>
          </a:bodyPr>
          <a:p>
            <a:pPr>
              <a:spcAft>
                <a:spcPct val="0"/>
              </a:spcAft>
            </a:pPr>
            <a:r>
              <a:rPr sz="2300" b="1"/>
              <a:t> </a:t>
            </a:r>
            <a:r>
              <a:rPr b="1">
                <a:latin typeface="Times New Roman" panose="02020603050405020304" charset="0"/>
                <a:cs typeface="Times New Roman" panose="02020603050405020304" charset="0"/>
              </a:rPr>
              <a:t>Nhược điểm xe lai có sạc (PHEV):</a:t>
            </a:r>
            <a:endParaRPr sz="2300" b="1"/>
          </a:p>
          <a:p>
            <a:pPr>
              <a:spcAft>
                <a:spcPct val="0"/>
              </a:spcAft>
            </a:pPr>
            <a:endParaRPr sz="2300" b="1"/>
          </a:p>
          <a:p>
            <a:pPr>
              <a:buAutoNum type="arabicPeriod"/>
            </a:pPr>
            <a:r>
              <a:rPr sz="1600"/>
              <a:t>Giá thành cao:</a:t>
            </a:r>
            <a:endParaRPr sz="1600"/>
          </a:p>
          <a:p>
            <a:pPr>
              <a:buAutoNum type="arabicPeriod"/>
            </a:pPr>
            <a:endParaRPr sz="1600"/>
          </a:p>
          <a:p>
            <a:pPr lvl="1">
              <a:buFont typeface="Arial" panose="020B0604020202020204"/>
              <a:buChar char="◦"/>
            </a:pPr>
            <a:r>
              <a:rPr sz="1600"/>
              <a:t>Đắt hơn xe HEV và xe xăng cùng phân khúc do pin lớn và hệ thống phức tạp.</a:t>
            </a:r>
            <a:endParaRPr sz="1600"/>
          </a:p>
          <a:p>
            <a:pPr lvl="1">
              <a:buFont typeface="Arial" panose="020B0604020202020204"/>
              <a:buChar char="◦"/>
            </a:pPr>
            <a:endParaRPr sz="1600"/>
          </a:p>
          <a:p>
            <a:pPr>
              <a:buAutoNum type="arabicPeriod"/>
            </a:pPr>
            <a:r>
              <a:rPr sz="1600"/>
              <a:t>Chi phí bảo dưỡng – sửa chữa cao:</a:t>
            </a:r>
            <a:endParaRPr sz="1600"/>
          </a:p>
          <a:p>
            <a:pPr>
              <a:buAutoNum type="arabicPeriod"/>
            </a:pPr>
            <a:endParaRPr sz="1600"/>
          </a:p>
          <a:p>
            <a:pPr lvl="1">
              <a:buFont typeface="Arial" panose="020B0604020202020204"/>
              <a:buChar char="◦"/>
            </a:pPr>
            <a:r>
              <a:rPr sz="1600"/>
              <a:t>Pin dung lượng lớn → giá thay pin đắt hơn HEV.</a:t>
            </a:r>
            <a:endParaRPr sz="1600"/>
          </a:p>
          <a:p>
            <a:pPr lvl="1">
              <a:buFont typeface="Arial" panose="020B0604020202020204"/>
              <a:buChar char="◦"/>
            </a:pPr>
            <a:endParaRPr sz="1600"/>
          </a:p>
          <a:p>
            <a:pPr lvl="1">
              <a:buFont typeface="Arial" panose="020B0604020202020204"/>
              <a:buChar char="◦"/>
            </a:pPr>
            <a:r>
              <a:rPr sz="1600"/>
              <a:t>Hệ thống vừa xăng vừa điện → bảo dưỡng phức tạp hơn.</a:t>
            </a:r>
            <a:endParaRPr sz="1600"/>
          </a:p>
          <a:p>
            <a:pPr lvl="1">
              <a:buFont typeface="Arial" panose="020B0604020202020204"/>
              <a:buChar char="◦"/>
            </a:pPr>
            <a:endParaRPr sz="1600"/>
          </a:p>
          <a:p>
            <a:pPr>
              <a:buAutoNum type="arabicPeriod"/>
            </a:pPr>
            <a:r>
              <a:rPr sz="1600"/>
              <a:t>Trọng lượng nặng:</a:t>
            </a:r>
            <a:endParaRPr sz="1600"/>
          </a:p>
          <a:p>
            <a:pPr>
              <a:buAutoNum type="arabicPeriod"/>
            </a:pPr>
            <a:endParaRPr sz="1600"/>
          </a:p>
          <a:p>
            <a:pPr lvl="1">
              <a:buFont typeface="Arial" panose="020B0604020202020204"/>
              <a:buChar char="◦"/>
            </a:pPr>
            <a:r>
              <a:rPr sz="1600"/>
              <a:t>Pin lớn làm xe nặng hơn → có thể giảm hiệu quả trên đường dài.</a:t>
            </a:r>
            <a:endParaRPr sz="1600"/>
          </a:p>
          <a:p>
            <a:pPr lvl="1">
              <a:buFont typeface="Arial" panose="020B0604020202020204"/>
              <a:buChar char="◦"/>
            </a:pPr>
            <a:endParaRPr sz="1600"/>
          </a:p>
          <a:p>
            <a:pPr>
              <a:buAutoNum type="arabicPeriod"/>
            </a:pPr>
            <a:r>
              <a:rPr sz="1600"/>
              <a:t>Hạ tầng sạc hạn chế (ở Việt Nam):</a:t>
            </a:r>
            <a:endParaRPr sz="1600"/>
          </a:p>
          <a:p>
            <a:pPr>
              <a:buAutoNum type="arabicPeriod"/>
            </a:pPr>
            <a:endParaRPr sz="1600"/>
          </a:p>
          <a:p>
            <a:pPr lvl="1">
              <a:buFont typeface="Arial" panose="020B0604020202020204"/>
              <a:buChar char="◦"/>
            </a:pPr>
            <a:r>
              <a:rPr sz="1600"/>
              <a:t>Nếu không có trạm sạc tại nhà/ngoài, sẽ không tận dụng hết ưu điểm của PHEV.</a:t>
            </a:r>
            <a:endParaRPr sz="1600"/>
          </a:p>
          <a:p>
            <a:pPr lvl="1">
              <a:buFont typeface="Arial" panose="020B0604020202020204"/>
              <a:buChar char="◦"/>
            </a:pPr>
            <a:endParaRPr sz="1600"/>
          </a:p>
          <a:p>
            <a:pPr>
              <a:buAutoNum type="arabicPeriod"/>
            </a:pPr>
            <a:r>
              <a:rPr sz="1600"/>
              <a:t>Thời gian sạc:</a:t>
            </a:r>
            <a:endParaRPr sz="1600"/>
          </a:p>
          <a:p>
            <a:pPr>
              <a:buAutoNum type="arabicPeriod"/>
            </a:pPr>
            <a:endParaRPr sz="1600"/>
          </a:p>
          <a:p>
            <a:pPr lvl="1">
              <a:buFont typeface="Arial" panose="020B0604020202020204"/>
              <a:buChar char="◦"/>
            </a:pPr>
            <a:r>
              <a:rPr sz="1600"/>
              <a:t>Sạc tại ổ điện thường mất 4–8 giờ, sạc nhanh ít phổ biến cho PHEV.</a:t>
            </a:r>
            <a:endParaRPr sz="1600"/>
          </a:p>
        </p:txBody>
      </p:sp>
      <p:pic>
        <p:nvPicPr>
          <p:cNvPr id="2" name="Picture 1"/>
          <p:cNvPicPr>
            <a:picLocks noChangeAspect="1"/>
          </p:cNvPicPr>
          <p:nvPr/>
        </p:nvPicPr>
        <p:blipFill>
          <a:blip r:embed="rId1"/>
          <a:stretch>
            <a:fillRect/>
          </a:stretch>
        </p:blipFill>
        <p:spPr>
          <a:xfrm>
            <a:off x="6935470" y="1786255"/>
            <a:ext cx="4328795" cy="29089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112395" y="153670"/>
            <a:ext cx="8523605" cy="5398135"/>
          </a:xfrm>
          <a:prstGeom prst="rect">
            <a:avLst/>
          </a:prstGeom>
        </p:spPr>
        <p:txBody>
          <a:bodyPr wrap="square">
            <a:noAutofit/>
          </a:bodyPr>
          <a:p>
            <a:pPr>
              <a:spcAft>
                <a:spcPct val="0"/>
              </a:spcAft>
            </a:pPr>
            <a:r>
              <a:rPr sz="2300" b="1"/>
              <a:t>Ưu điểm xe thuần điện (EV):</a:t>
            </a:r>
            <a:endParaRPr sz="2300" b="1"/>
          </a:p>
          <a:p>
            <a:pPr>
              <a:spcAft>
                <a:spcPct val="0"/>
              </a:spcAft>
            </a:pPr>
            <a:endParaRPr sz="2300" b="1"/>
          </a:p>
          <a:p>
            <a:pPr>
              <a:buAutoNum type="arabicPeriod"/>
            </a:pPr>
            <a:r>
              <a:rPr sz="1600"/>
              <a:t>Thân thiện môi trường:</a:t>
            </a:r>
            <a:endParaRPr sz="1600"/>
          </a:p>
          <a:p>
            <a:pPr>
              <a:buAutoNum type="arabicPeriod"/>
            </a:pPr>
            <a:endParaRPr sz="1600"/>
          </a:p>
          <a:p>
            <a:pPr lvl="1">
              <a:buFont typeface="Arial" panose="020B0604020202020204"/>
              <a:buChar char="◦"/>
            </a:pPr>
            <a:r>
              <a:rPr sz="1600"/>
              <a:t>Không phát thải khí độc hại (CO, NOx, HC) trong quá trình vận hành.</a:t>
            </a:r>
            <a:endParaRPr sz="1600"/>
          </a:p>
          <a:p>
            <a:pPr lvl="1">
              <a:buFont typeface="Arial" panose="020B0604020202020204"/>
              <a:buChar char="◦"/>
            </a:pPr>
            <a:endParaRPr sz="1600"/>
          </a:p>
          <a:p>
            <a:pPr lvl="1">
              <a:buFont typeface="Arial" panose="020B0604020202020204"/>
              <a:buChar char="◦"/>
            </a:pPr>
            <a:r>
              <a:rPr sz="1600"/>
              <a:t>Giảm tiếng ồn đáng kể.</a:t>
            </a:r>
            <a:endParaRPr sz="1600"/>
          </a:p>
          <a:p>
            <a:pPr lvl="1">
              <a:buFont typeface="Arial" panose="020B0604020202020204"/>
              <a:buChar char="◦"/>
            </a:pPr>
            <a:endParaRPr sz="1600"/>
          </a:p>
          <a:p>
            <a:pPr>
              <a:buAutoNum type="arabicPeriod"/>
            </a:pPr>
            <a:r>
              <a:rPr sz="1600"/>
              <a:t>Tiết kiệm chi phí nhiên liệu:</a:t>
            </a:r>
            <a:endParaRPr sz="1600"/>
          </a:p>
          <a:p>
            <a:pPr>
              <a:buAutoNum type="arabicPeriod"/>
            </a:pPr>
            <a:endParaRPr sz="1600"/>
          </a:p>
          <a:p>
            <a:pPr lvl="1">
              <a:buFont typeface="Arial" panose="020B0604020202020204"/>
              <a:buChar char="◦"/>
            </a:pPr>
            <a:r>
              <a:rPr sz="1600"/>
              <a:t>Chi phí sạc rẻ hơn nhiều so với đổ xăng/dầu.</a:t>
            </a:r>
            <a:endParaRPr sz="1600"/>
          </a:p>
          <a:p>
            <a:pPr lvl="1">
              <a:buFont typeface="Arial" panose="020B0604020202020204"/>
              <a:buChar char="◦"/>
            </a:pPr>
            <a:endParaRPr sz="1600"/>
          </a:p>
          <a:p>
            <a:pPr lvl="1">
              <a:buFont typeface="Arial" panose="020B0604020202020204"/>
              <a:buChar char="◦"/>
            </a:pPr>
            <a:r>
              <a:rPr sz="1600"/>
              <a:t>1 km chạy EV thường chỉ bằng ~1/3 đến 1/5 chi phí xe xăng.</a:t>
            </a:r>
            <a:endParaRPr sz="1600"/>
          </a:p>
          <a:p>
            <a:pPr lvl="1">
              <a:buFont typeface="Arial" panose="020B0604020202020204"/>
              <a:buChar char="◦"/>
            </a:pPr>
            <a:endParaRPr sz="1600"/>
          </a:p>
          <a:p>
            <a:pPr>
              <a:buAutoNum type="arabicPeriod"/>
            </a:pPr>
            <a:r>
              <a:rPr sz="1600"/>
              <a:t>Bảo dưỡng ít tốn kém:</a:t>
            </a:r>
            <a:endParaRPr sz="1600"/>
          </a:p>
          <a:p>
            <a:pPr>
              <a:buAutoNum type="arabicPeriod"/>
            </a:pPr>
            <a:endParaRPr sz="1600"/>
          </a:p>
          <a:p>
            <a:pPr lvl="1">
              <a:buFont typeface="Arial" panose="020B0604020202020204"/>
              <a:buChar char="◦"/>
            </a:pPr>
            <a:r>
              <a:rPr sz="1600"/>
              <a:t>Không cần thay dầu máy, bugi, lọc gió động cơ…</a:t>
            </a:r>
            <a:endParaRPr sz="1600"/>
          </a:p>
          <a:p>
            <a:pPr lvl="1">
              <a:buFont typeface="Arial" panose="020B0604020202020204"/>
              <a:buChar char="◦"/>
            </a:pPr>
            <a:endParaRPr sz="1600"/>
          </a:p>
          <a:p>
            <a:pPr lvl="1">
              <a:buFont typeface="Arial" panose="020B0604020202020204"/>
              <a:buChar char="◦"/>
            </a:pPr>
            <a:r>
              <a:rPr sz="1600"/>
              <a:t>Ít bộ phận cơ khí → ít hỏng vặt.</a:t>
            </a:r>
            <a:endParaRPr sz="1600"/>
          </a:p>
        </p:txBody>
      </p:sp>
      <p:pic>
        <p:nvPicPr>
          <p:cNvPr id="2" name="Picture 1"/>
          <p:cNvPicPr>
            <a:picLocks noChangeAspect="1"/>
          </p:cNvPicPr>
          <p:nvPr/>
        </p:nvPicPr>
        <p:blipFill>
          <a:blip r:embed="rId1"/>
          <a:stretch>
            <a:fillRect/>
          </a:stretch>
        </p:blipFill>
        <p:spPr>
          <a:xfrm>
            <a:off x="7054850" y="154305"/>
            <a:ext cx="5066030" cy="576199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98120" y="236855"/>
            <a:ext cx="8437880" cy="4222750"/>
          </a:xfrm>
          <a:prstGeom prst="rect">
            <a:avLst/>
          </a:prstGeom>
        </p:spPr>
        <p:txBody>
          <a:bodyPr wrap="square">
            <a:noAutofit/>
          </a:bodyPr>
          <a:p>
            <a:pPr>
              <a:buAutoNum type="arabicPeriod"/>
            </a:pPr>
            <a:r>
              <a:rPr sz="1600"/>
              <a:t>Hiệu suất cao:</a:t>
            </a:r>
            <a:endParaRPr sz="1600"/>
          </a:p>
          <a:p>
            <a:pPr>
              <a:buAutoNum type="arabicPeriod"/>
            </a:pPr>
            <a:endParaRPr sz="1600"/>
          </a:p>
          <a:p>
            <a:pPr lvl="1">
              <a:buFont typeface="Arial" panose="020B0604020202020204"/>
              <a:buChar char="◦"/>
            </a:pPr>
            <a:r>
              <a:rPr sz="1600"/>
              <a:t>Động cơ điện có hiệu suất 85–95% (so với 30–40% ở động cơ xăng).</a:t>
            </a:r>
            <a:endParaRPr sz="1600"/>
          </a:p>
          <a:p>
            <a:pPr lvl="1">
              <a:buFont typeface="Arial" panose="020B0604020202020204"/>
              <a:buChar char="◦"/>
            </a:pPr>
            <a:endParaRPr sz="1600"/>
          </a:p>
          <a:p>
            <a:pPr lvl="1">
              <a:buFont typeface="Arial" panose="020B0604020202020204"/>
              <a:buChar char="◦"/>
            </a:pPr>
            <a:r>
              <a:rPr sz="1600"/>
              <a:t>Mô-men xoắn cực đại có ngay khi đạp ga → tăng tốc nhanh, mượt.</a:t>
            </a:r>
            <a:endParaRPr sz="1600"/>
          </a:p>
          <a:p>
            <a:pPr lvl="1">
              <a:buFont typeface="Arial" panose="020B0604020202020204"/>
              <a:buChar char="◦"/>
            </a:pPr>
            <a:endParaRPr sz="1600"/>
          </a:p>
          <a:p>
            <a:pPr>
              <a:buAutoNum type="arabicPeriod"/>
            </a:pPr>
            <a:r>
              <a:rPr sz="1600"/>
              <a:t>Trải nghiệm lái tốt:</a:t>
            </a:r>
            <a:endParaRPr sz="1600"/>
          </a:p>
          <a:p>
            <a:pPr>
              <a:buAutoNum type="arabicPeriod"/>
            </a:pPr>
            <a:endParaRPr sz="1600"/>
          </a:p>
          <a:p>
            <a:pPr lvl="1">
              <a:buFont typeface="Arial" panose="020B0604020202020204"/>
              <a:buChar char="◦"/>
            </a:pPr>
            <a:r>
              <a:rPr sz="1600"/>
              <a:t>Vận hành êm ái, yên tĩnh.</a:t>
            </a:r>
            <a:endParaRPr sz="1600"/>
          </a:p>
          <a:p>
            <a:pPr lvl="1">
              <a:buFont typeface="Arial" panose="020B0604020202020204"/>
              <a:buChar char="◦"/>
            </a:pPr>
            <a:endParaRPr sz="1600"/>
          </a:p>
          <a:p>
            <a:pPr lvl="1">
              <a:buFont typeface="Arial" panose="020B0604020202020204"/>
              <a:buChar char="◦"/>
            </a:pPr>
            <a:r>
              <a:rPr sz="1600"/>
              <a:t>Nhiều mẫu xe có công nghệ hiện đại (tự lái, hỗ trợ thông minh).</a:t>
            </a:r>
            <a:endParaRPr sz="1600"/>
          </a:p>
        </p:txBody>
      </p:sp>
      <p:pic>
        <p:nvPicPr>
          <p:cNvPr id="3" name="Picture 2"/>
          <p:cNvPicPr>
            <a:picLocks noChangeAspect="1"/>
          </p:cNvPicPr>
          <p:nvPr/>
        </p:nvPicPr>
        <p:blipFill>
          <a:blip r:embed="rId1"/>
          <a:stretch>
            <a:fillRect/>
          </a:stretch>
        </p:blipFill>
        <p:spPr>
          <a:xfrm>
            <a:off x="7672070" y="571500"/>
            <a:ext cx="3860800" cy="39719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52730" y="208280"/>
            <a:ext cx="8383270" cy="5343525"/>
          </a:xfrm>
          <a:prstGeom prst="rect">
            <a:avLst/>
          </a:prstGeom>
        </p:spPr>
        <p:txBody>
          <a:bodyPr wrap="square">
            <a:noAutofit/>
          </a:bodyPr>
          <a:p>
            <a:pPr>
              <a:spcAft>
                <a:spcPct val="0"/>
              </a:spcAft>
            </a:pPr>
            <a:r>
              <a:rPr sz="2300" b="1"/>
              <a:t> Nhược điểm xe thuần điện (EV):</a:t>
            </a:r>
            <a:endParaRPr sz="2300" b="1"/>
          </a:p>
          <a:p>
            <a:pPr>
              <a:spcAft>
                <a:spcPct val="0"/>
              </a:spcAft>
            </a:pPr>
            <a:endParaRPr sz="2300" b="1"/>
          </a:p>
          <a:p>
            <a:pPr>
              <a:buAutoNum type="arabicPeriod"/>
            </a:pPr>
            <a:r>
              <a:rPr sz="1600"/>
              <a:t>Quãng đường hạn chế:</a:t>
            </a:r>
            <a:endParaRPr sz="1600"/>
          </a:p>
          <a:p>
            <a:pPr>
              <a:buAutoNum type="arabicPeriod"/>
            </a:pPr>
            <a:endParaRPr sz="1600"/>
          </a:p>
          <a:p>
            <a:pPr lvl="1">
              <a:buFont typeface="Arial" panose="020B0604020202020204"/>
              <a:buChar char="◦"/>
            </a:pPr>
            <a:r>
              <a:rPr sz="1600"/>
              <a:t>Trung bình 250–500 km mỗi lần sạc (tùy loại pin).</a:t>
            </a:r>
            <a:endParaRPr sz="1600"/>
          </a:p>
          <a:p>
            <a:pPr lvl="1">
              <a:buFont typeface="Arial" panose="020B0604020202020204"/>
              <a:buChar char="◦"/>
            </a:pPr>
            <a:endParaRPr sz="1600"/>
          </a:p>
          <a:p>
            <a:pPr lvl="1">
              <a:buFont typeface="Arial" panose="020B0604020202020204"/>
              <a:buChar char="◦"/>
            </a:pPr>
            <a:r>
              <a:rPr sz="1600"/>
              <a:t>Đi đường dài phải tính toán điểm sạc.</a:t>
            </a:r>
            <a:endParaRPr sz="1600"/>
          </a:p>
          <a:p>
            <a:pPr lvl="1">
              <a:buFont typeface="Arial" panose="020B0604020202020204"/>
              <a:buChar char="◦"/>
            </a:pPr>
            <a:endParaRPr sz="1600"/>
          </a:p>
          <a:p>
            <a:pPr>
              <a:buAutoNum type="arabicPeriod"/>
            </a:pPr>
            <a:r>
              <a:rPr sz="1600"/>
              <a:t>Thời gian sạc lâu:</a:t>
            </a:r>
            <a:endParaRPr sz="1600"/>
          </a:p>
          <a:p>
            <a:pPr>
              <a:buAutoNum type="arabicPeriod"/>
            </a:pPr>
            <a:endParaRPr sz="1600"/>
          </a:p>
          <a:p>
            <a:pPr lvl="1">
              <a:buFont typeface="Arial" panose="020B0604020202020204"/>
              <a:buChar char="◦"/>
            </a:pPr>
            <a:r>
              <a:rPr sz="1600"/>
              <a:t>Sạc thường: 6–12 giờ.</a:t>
            </a:r>
            <a:endParaRPr sz="1600"/>
          </a:p>
          <a:p>
            <a:pPr lvl="1">
              <a:buFont typeface="Arial" panose="020B0604020202020204"/>
              <a:buChar char="◦"/>
            </a:pPr>
            <a:endParaRPr sz="1600"/>
          </a:p>
          <a:p>
            <a:pPr lvl="1">
              <a:buFont typeface="Arial" panose="020B0604020202020204"/>
              <a:buChar char="◦"/>
            </a:pPr>
            <a:r>
              <a:rPr sz="1600"/>
              <a:t>Sạc nhanh: 30–60 phút (nhưng dễ làm giảm tuổi thọ pin).</a:t>
            </a:r>
            <a:endParaRPr sz="1600"/>
          </a:p>
          <a:p>
            <a:pPr lvl="1">
              <a:buFont typeface="Arial" panose="020B0604020202020204"/>
              <a:buChar char="◦"/>
            </a:pPr>
            <a:endParaRPr sz="1600"/>
          </a:p>
          <a:p>
            <a:pPr>
              <a:buAutoNum type="arabicPeriod"/>
            </a:pPr>
            <a:r>
              <a:rPr sz="1600"/>
              <a:t>Hạ tầng trạm sạc chưa phổ biến (ở Việt Nam):</a:t>
            </a:r>
            <a:endParaRPr sz="1600"/>
          </a:p>
          <a:p>
            <a:pPr>
              <a:buAutoNum type="arabicPeriod"/>
            </a:pPr>
            <a:endParaRPr sz="1600"/>
          </a:p>
          <a:p>
            <a:pPr lvl="1">
              <a:buFont typeface="Arial" panose="020B0604020202020204"/>
              <a:buChar char="◦"/>
            </a:pPr>
            <a:r>
              <a:rPr sz="1600"/>
              <a:t>Nếu không có sạc tại nhà, khá bất tiện khi sử dụng.</a:t>
            </a:r>
            <a:endParaRPr sz="1600"/>
          </a:p>
          <a:p>
            <a:pPr lvl="1">
              <a:buFont typeface="Arial" panose="020B0604020202020204"/>
              <a:buChar char="◦"/>
            </a:pPr>
            <a:endParaRPr sz="1600"/>
          </a:p>
          <a:p>
            <a:pPr>
              <a:buAutoNum type="arabicPeriod"/>
            </a:pPr>
            <a:endParaRPr sz="1600"/>
          </a:p>
        </p:txBody>
      </p:sp>
      <p:pic>
        <p:nvPicPr>
          <p:cNvPr id="3" name="Picture 2"/>
          <p:cNvPicPr>
            <a:picLocks noChangeAspect="1"/>
          </p:cNvPicPr>
          <p:nvPr/>
        </p:nvPicPr>
        <p:blipFill>
          <a:blip r:embed="rId1"/>
          <a:stretch>
            <a:fillRect/>
          </a:stretch>
        </p:blipFill>
        <p:spPr>
          <a:xfrm>
            <a:off x="6220460" y="299720"/>
            <a:ext cx="5690870" cy="40944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27355" y="237490"/>
            <a:ext cx="11424285" cy="5084445"/>
          </a:xfrm>
          <a:prstGeom prst="rect">
            <a:avLst/>
          </a:prstGeom>
        </p:spPr>
        <p:txBody>
          <a:bodyPr wrap="square">
            <a:noAutofit/>
          </a:bodyPr>
          <a:p>
            <a:r>
              <a:rPr sz="1600"/>
              <a:t>Giá thành cao:</a:t>
            </a:r>
            <a:endParaRPr sz="1600"/>
          </a:p>
          <a:p>
            <a:endParaRPr sz="1600"/>
          </a:p>
          <a:p>
            <a:pPr>
              <a:buFont typeface="Arial" panose="020B0604020202020204"/>
              <a:buChar char="•"/>
            </a:pPr>
            <a:r>
              <a:rPr sz="1600"/>
              <a:t>Pin chiếm 30–40% giá xe.</a:t>
            </a:r>
            <a:endParaRPr sz="1600"/>
          </a:p>
          <a:p>
            <a:pPr>
              <a:buFont typeface="Arial" panose="020B0604020202020204"/>
              <a:buChar char="•"/>
            </a:pPr>
            <a:endParaRPr sz="1600"/>
          </a:p>
          <a:p>
            <a:pPr>
              <a:buFont typeface="Arial" panose="020B0604020202020204"/>
              <a:buChar char="•"/>
            </a:pPr>
            <a:r>
              <a:rPr sz="1600"/>
              <a:t>Giá xe điện thường cao hơn xe xăng cùng phân khúc.</a:t>
            </a:r>
            <a:endParaRPr sz="1600"/>
          </a:p>
          <a:p>
            <a:pPr>
              <a:buFont typeface="Arial" panose="020B0604020202020204"/>
              <a:buChar char="•"/>
            </a:pPr>
            <a:endParaRPr sz="1600"/>
          </a:p>
          <a:p>
            <a:r>
              <a:rPr sz="1600"/>
              <a:t>Tuổi thọ &amp; thay thế pin:</a:t>
            </a:r>
            <a:endParaRPr sz="1600"/>
          </a:p>
          <a:p>
            <a:endParaRPr sz="1600"/>
          </a:p>
          <a:p>
            <a:pPr>
              <a:buFont typeface="Arial" panose="020B0604020202020204"/>
              <a:buChar char="•"/>
            </a:pPr>
            <a:r>
              <a:rPr sz="1600"/>
              <a:t>Pin sử dụng 8–10 năm sẽ suy hao dung lượng.</a:t>
            </a:r>
            <a:endParaRPr sz="1600"/>
          </a:p>
          <a:p>
            <a:pPr>
              <a:buFont typeface="Arial" panose="020B0604020202020204"/>
              <a:buChar char="•"/>
            </a:pPr>
            <a:endParaRPr sz="1600"/>
          </a:p>
          <a:p>
            <a:pPr>
              <a:buFont typeface="Arial" panose="020B0604020202020204"/>
              <a:buChar char="•"/>
            </a:pPr>
            <a:r>
              <a:rPr sz="1600"/>
              <a:t>Thay pin chi phí lớn (hàng trăm triệu đồng).</a:t>
            </a:r>
            <a:endParaRPr sz="1600"/>
          </a:p>
          <a:p>
            <a:pPr>
              <a:buFont typeface="Arial" panose="020B0604020202020204"/>
              <a:buChar char="•"/>
            </a:pPr>
            <a:endParaRPr sz="1600"/>
          </a:p>
          <a:p>
            <a:r>
              <a:rPr sz="1600"/>
              <a:t>Ảnh hưởng môi trường gián tiếp:</a:t>
            </a:r>
            <a:endParaRPr sz="1600"/>
          </a:p>
          <a:p>
            <a:endParaRPr sz="1600"/>
          </a:p>
          <a:p>
            <a:pPr>
              <a:buFont typeface="Arial" panose="020B0604020202020204"/>
              <a:buChar char="•"/>
            </a:pPr>
            <a:r>
              <a:rPr sz="1600"/>
              <a:t>Dù vận hành sạch, nhưng quá trình sản xuất pin &amp; xử lý pin thải gây ô nhiễm môi trường nếu không được tái chế tốt.</a:t>
            </a:r>
            <a:endParaRPr sz="1600"/>
          </a:p>
        </p:txBody>
      </p:sp>
      <p:pic>
        <p:nvPicPr>
          <p:cNvPr id="3" name="Picture 2"/>
          <p:cNvPicPr>
            <a:picLocks noChangeAspect="1"/>
          </p:cNvPicPr>
          <p:nvPr/>
        </p:nvPicPr>
        <p:blipFill>
          <a:blip r:embed="rId1"/>
          <a:stretch>
            <a:fillRect/>
          </a:stretch>
        </p:blipFill>
        <p:spPr>
          <a:xfrm>
            <a:off x="6157595" y="300355"/>
            <a:ext cx="5459730" cy="30391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69900" y="299720"/>
            <a:ext cx="11393170" cy="4213860"/>
          </a:xfrm>
          <a:prstGeom prst="rect">
            <a:avLst/>
          </a:prstGeom>
        </p:spPr>
        <p:txBody>
          <a:bodyPr wrap="square">
            <a:noAutofit/>
          </a:bodyPr>
          <a:p>
            <a:pPr>
              <a:spcAft>
                <a:spcPct val="0"/>
              </a:spcAft>
            </a:pPr>
            <a:r>
              <a:rPr sz="2300" b="1"/>
              <a:t>Nguyên lý hoạt động của xe lai hydro (Fuel Cell Hybrid):</a:t>
            </a:r>
            <a:endParaRPr sz="2300" b="1"/>
          </a:p>
          <a:p>
            <a:pPr>
              <a:spcAft>
                <a:spcPct val="0"/>
              </a:spcAft>
            </a:pPr>
            <a:endParaRPr sz="2300" b="1"/>
          </a:p>
          <a:p>
            <a:pPr>
              <a:buAutoNum type="arabicPeriod"/>
            </a:pPr>
            <a:r>
              <a:rPr sz="1600"/>
              <a:t>Bình chứa hydro lưu trữ khí H₂ ở áp suất cao (350–700 bar).</a:t>
            </a:r>
            <a:endParaRPr sz="1600"/>
          </a:p>
          <a:p>
            <a:pPr>
              <a:buAutoNum type="arabicPeriod"/>
            </a:pPr>
            <a:endParaRPr sz="1600"/>
          </a:p>
          <a:p>
            <a:pPr>
              <a:buAutoNum type="arabicPeriod"/>
            </a:pPr>
            <a:r>
              <a:rPr sz="1600"/>
              <a:t>Pin nhiên liệu (Fuel Cell Stack): Hydro (H₂) kết hợp với oxy (O₂) trong không khí → tạo ra điện năng + nước (H₂O).</a:t>
            </a:r>
            <a:endParaRPr sz="1600"/>
          </a:p>
          <a:p>
            <a:pPr>
              <a:buAutoNum type="arabicPeriod"/>
            </a:pPr>
            <a:endParaRPr sz="1600"/>
          </a:p>
          <a:p>
            <a:pPr lvl="1">
              <a:buFont typeface="Arial" panose="020B0604020202020204"/>
              <a:buChar char="◦"/>
            </a:pPr>
            <a:r>
              <a:rPr sz="1600"/>
              <a:t>Phản ứng: 2H₂ + O₂ → 2H₂O + điện năng.</a:t>
            </a:r>
            <a:endParaRPr sz="1600"/>
          </a:p>
          <a:p>
            <a:pPr lvl="1">
              <a:buFont typeface="Arial" panose="020B0604020202020204"/>
              <a:buChar char="◦"/>
            </a:pPr>
            <a:endParaRPr sz="1600"/>
          </a:p>
          <a:p>
            <a:pPr>
              <a:buAutoNum type="arabicPeriod"/>
            </a:pPr>
            <a:r>
              <a:rPr sz="1600"/>
              <a:t>Điện năng sinh ra cung cấp cho động cơ điện để vận hành xe.</a:t>
            </a:r>
            <a:endParaRPr sz="1600"/>
          </a:p>
          <a:p>
            <a:pPr>
              <a:buAutoNum type="arabicPeriod"/>
            </a:pPr>
            <a:endParaRPr sz="1600"/>
          </a:p>
          <a:p>
            <a:pPr>
              <a:buAutoNum type="arabicPeriod"/>
            </a:pPr>
            <a:r>
              <a:rPr sz="1600"/>
              <a:t>Pin phụ (Lithium-ion) lưu trữ điện dư (từ phanh tái sinh hoặc Fuel Cell) → hỗ trợ tăng tốc, ổn định hệ thống.</a:t>
            </a:r>
            <a:endParaRPr sz="1600"/>
          </a:p>
        </p:txBody>
      </p:sp>
      <p:pic>
        <p:nvPicPr>
          <p:cNvPr id="3" name="Picture 2"/>
          <p:cNvPicPr>
            <a:picLocks noChangeAspect="1"/>
          </p:cNvPicPr>
          <p:nvPr/>
        </p:nvPicPr>
        <p:blipFill>
          <a:blip r:embed="rId1"/>
          <a:stretch>
            <a:fillRect/>
          </a:stretch>
        </p:blipFill>
        <p:spPr>
          <a:xfrm>
            <a:off x="285115" y="3645535"/>
            <a:ext cx="11264900" cy="1905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42570" y="-48260"/>
            <a:ext cx="11870055" cy="5969635"/>
          </a:xfrm>
          <a:prstGeom prst="rect">
            <a:avLst/>
          </a:prstGeom>
        </p:spPr>
        <p:txBody>
          <a:bodyPr wrap="square">
            <a:spAutoFit/>
          </a:bodyPr>
          <a:p>
            <a:pPr>
              <a:spcAft>
                <a:spcPct val="0"/>
              </a:spcAft>
            </a:pPr>
            <a:r>
              <a:rPr sz="2300" b="1"/>
              <a:t> Ưu điểm xe lai hydro:</a:t>
            </a:r>
            <a:endParaRPr sz="2300" b="1"/>
          </a:p>
          <a:p>
            <a:pPr>
              <a:spcAft>
                <a:spcPct val="0"/>
              </a:spcAft>
            </a:pPr>
            <a:endParaRPr sz="2300" b="1"/>
          </a:p>
          <a:p>
            <a:pPr>
              <a:buAutoNum type="arabicPeriod"/>
            </a:pPr>
            <a:r>
              <a:rPr sz="1600"/>
              <a:t>Thân thiện môi trường:</a:t>
            </a:r>
            <a:endParaRPr sz="1600"/>
          </a:p>
          <a:p>
            <a:pPr>
              <a:buAutoNum type="arabicPeriod"/>
            </a:pPr>
            <a:endParaRPr sz="1600"/>
          </a:p>
          <a:p>
            <a:pPr lvl="1">
              <a:buFont typeface="Arial" panose="020B0604020202020204"/>
              <a:buChar char="◦"/>
            </a:pPr>
            <a:r>
              <a:rPr sz="1600"/>
              <a:t>Sản phẩm thải chỉ là nước tinh khiết.</a:t>
            </a:r>
            <a:endParaRPr sz="1600"/>
          </a:p>
          <a:p>
            <a:pPr lvl="1">
              <a:buFont typeface="Arial" panose="020B0604020202020204"/>
              <a:buChar char="◦"/>
            </a:pPr>
            <a:endParaRPr sz="1600"/>
          </a:p>
          <a:p>
            <a:pPr lvl="1">
              <a:buFont typeface="Arial" panose="020B0604020202020204"/>
              <a:buChar char="◦"/>
            </a:pPr>
            <a:r>
              <a:rPr sz="1600"/>
              <a:t>Không phát thải CO₂, NOx, HC…</a:t>
            </a:r>
            <a:endParaRPr sz="1600"/>
          </a:p>
          <a:p>
            <a:pPr lvl="1">
              <a:buFont typeface="Arial" panose="020B0604020202020204"/>
              <a:buChar char="◦"/>
            </a:pPr>
            <a:endParaRPr sz="1600"/>
          </a:p>
          <a:p>
            <a:pPr>
              <a:buAutoNum type="arabicPeriod"/>
            </a:pPr>
            <a:r>
              <a:rPr sz="1600"/>
              <a:t>Nạp nhiên liệu nhanh:</a:t>
            </a:r>
            <a:endParaRPr sz="1600"/>
          </a:p>
          <a:p>
            <a:pPr>
              <a:buAutoNum type="arabicPeriod"/>
            </a:pPr>
            <a:endParaRPr sz="1600"/>
          </a:p>
          <a:p>
            <a:pPr lvl="1">
              <a:buFont typeface="Arial" panose="020B0604020202020204"/>
              <a:buChar char="◦"/>
            </a:pPr>
            <a:r>
              <a:rPr sz="1600"/>
              <a:t>Chỉ mất 3–5 phút để nạp đầy hydro (nhanh hơn nhiều so với sạc pin EV).</a:t>
            </a:r>
            <a:endParaRPr sz="1600"/>
          </a:p>
          <a:p>
            <a:pPr lvl="1">
              <a:buFont typeface="Arial" panose="020B0604020202020204"/>
              <a:buChar char="◦"/>
            </a:pPr>
            <a:endParaRPr sz="1600"/>
          </a:p>
          <a:p>
            <a:pPr>
              <a:buAutoNum type="arabicPeriod"/>
            </a:pPr>
            <a:r>
              <a:rPr sz="1600"/>
              <a:t>Quãng đường dài:</a:t>
            </a:r>
            <a:endParaRPr sz="1600"/>
          </a:p>
          <a:p>
            <a:pPr>
              <a:buAutoNum type="arabicPeriod"/>
            </a:pPr>
            <a:endParaRPr sz="1600"/>
          </a:p>
          <a:p>
            <a:pPr lvl="1">
              <a:buFont typeface="Arial" panose="020B0604020202020204"/>
              <a:buChar char="◦"/>
            </a:pPr>
            <a:r>
              <a:rPr sz="1600"/>
              <a:t>Một lần nạp có thể đi 500–700 km, tương đương xe xăng/dầu.</a:t>
            </a:r>
            <a:endParaRPr sz="1600"/>
          </a:p>
          <a:p>
            <a:pPr lvl="1">
              <a:buFont typeface="Arial" panose="020B0604020202020204"/>
              <a:buChar char="◦"/>
            </a:pPr>
            <a:endParaRPr sz="1600"/>
          </a:p>
          <a:p>
            <a:pPr>
              <a:buAutoNum type="arabicPeriod"/>
            </a:pPr>
            <a:r>
              <a:rPr sz="1600"/>
              <a:t>Hiệu suất cao:</a:t>
            </a:r>
            <a:endParaRPr sz="1600"/>
          </a:p>
          <a:p>
            <a:pPr>
              <a:buAutoNum type="arabicPeriod"/>
            </a:pPr>
            <a:endParaRPr sz="1600"/>
          </a:p>
          <a:p>
            <a:pPr lvl="1">
              <a:buFont typeface="Arial" panose="020B0604020202020204"/>
              <a:buChar char="◦"/>
            </a:pPr>
            <a:r>
              <a:rPr sz="1600"/>
              <a:t>Fuel Cell + động cơ điện hiệu suất 55–65%, cao hơn động cơ đốt trong.</a:t>
            </a:r>
            <a:endParaRPr sz="1600"/>
          </a:p>
          <a:p>
            <a:pPr lvl="1">
              <a:buFont typeface="Arial" panose="020B0604020202020204"/>
              <a:buChar char="◦"/>
            </a:pPr>
            <a:endParaRPr sz="1600"/>
          </a:p>
          <a:p>
            <a:pPr>
              <a:buAutoNum type="arabicPeriod"/>
            </a:pPr>
            <a:r>
              <a:rPr sz="1600"/>
              <a:t>Vận hành êm ái:</a:t>
            </a:r>
            <a:endParaRPr sz="1600"/>
          </a:p>
          <a:p>
            <a:pPr>
              <a:buAutoNum type="arabicPeriod"/>
            </a:pPr>
            <a:endParaRPr sz="1600"/>
          </a:p>
          <a:p>
            <a:pPr lvl="1">
              <a:buFont typeface="Arial" panose="020B0604020202020204"/>
              <a:buChar char="◦"/>
            </a:pPr>
            <a:r>
              <a:rPr sz="1600"/>
              <a:t>Giống xe điện (EV), mô-men xoắn cao, tăng tốc mượt.</a:t>
            </a:r>
            <a:endParaRPr sz="1600"/>
          </a:p>
        </p:txBody>
      </p:sp>
      <p:pic>
        <p:nvPicPr>
          <p:cNvPr id="3" name="Picture 2"/>
          <p:cNvPicPr>
            <a:picLocks noChangeAspect="1"/>
          </p:cNvPicPr>
          <p:nvPr/>
        </p:nvPicPr>
        <p:blipFill>
          <a:blip r:embed="rId1"/>
          <a:stretch>
            <a:fillRect/>
          </a:stretch>
        </p:blipFill>
        <p:spPr>
          <a:xfrm>
            <a:off x="5701030" y="375285"/>
            <a:ext cx="5445125" cy="18573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52730" y="229870"/>
            <a:ext cx="11729085" cy="5057775"/>
          </a:xfrm>
          <a:prstGeom prst="rect">
            <a:avLst/>
          </a:prstGeom>
        </p:spPr>
        <p:txBody>
          <a:bodyPr wrap="square">
            <a:noAutofit/>
          </a:bodyPr>
          <a:p>
            <a:pPr>
              <a:spcAft>
                <a:spcPct val="0"/>
              </a:spcAft>
            </a:pPr>
            <a:r>
              <a:rPr sz="2300" b="1"/>
              <a:t> Nhược điểm xe lai hydro:</a:t>
            </a:r>
            <a:endParaRPr sz="2300" b="1"/>
          </a:p>
          <a:p>
            <a:pPr>
              <a:spcAft>
                <a:spcPct val="0"/>
              </a:spcAft>
            </a:pPr>
            <a:endParaRPr sz="2300" b="1"/>
          </a:p>
          <a:p>
            <a:pPr>
              <a:buAutoNum type="arabicPeriod"/>
            </a:pPr>
            <a:r>
              <a:rPr sz="1600"/>
              <a:t>Hạ tầng hạn chế:</a:t>
            </a:r>
            <a:endParaRPr sz="1600"/>
          </a:p>
          <a:p>
            <a:pPr>
              <a:buAutoNum type="arabicPeriod"/>
            </a:pPr>
            <a:endParaRPr sz="1600"/>
          </a:p>
          <a:p>
            <a:pPr lvl="1">
              <a:buFont typeface="Arial" panose="020B0604020202020204"/>
              <a:buChar char="◦"/>
            </a:pPr>
            <a:r>
              <a:rPr sz="1600"/>
              <a:t>Rất ít trạm nạp hydro, đặc biệt ở Việt Nam gần như chưa có.</a:t>
            </a:r>
            <a:endParaRPr sz="1600"/>
          </a:p>
          <a:p>
            <a:pPr lvl="1">
              <a:buFont typeface="Arial" panose="020B0604020202020204"/>
              <a:buChar char="◦"/>
            </a:pPr>
            <a:endParaRPr sz="1600"/>
          </a:p>
          <a:p>
            <a:pPr>
              <a:buAutoNum type="arabicPeriod"/>
            </a:pPr>
            <a:r>
              <a:rPr sz="1600"/>
              <a:t>Chi phí cao:</a:t>
            </a:r>
            <a:endParaRPr sz="1600"/>
          </a:p>
          <a:p>
            <a:pPr>
              <a:buAutoNum type="arabicPeriod"/>
            </a:pPr>
            <a:endParaRPr sz="1600"/>
          </a:p>
          <a:p>
            <a:pPr lvl="1">
              <a:buFont typeface="Arial" panose="020B0604020202020204"/>
              <a:buChar char="◦"/>
            </a:pPr>
            <a:r>
              <a:rPr sz="1600"/>
              <a:t>Giá xe và pin nhiên liệu hydro còn rất đắt.</a:t>
            </a:r>
            <a:endParaRPr sz="1600"/>
          </a:p>
          <a:p>
            <a:pPr lvl="1">
              <a:buFont typeface="Arial" panose="020B0604020202020204"/>
              <a:buChar char="◦"/>
            </a:pPr>
            <a:endParaRPr sz="1600"/>
          </a:p>
          <a:p>
            <a:pPr lvl="1">
              <a:buFont typeface="Arial" panose="020B0604020202020204"/>
              <a:buChar char="◦"/>
            </a:pPr>
            <a:r>
              <a:rPr sz="1600"/>
              <a:t>Bình chứa hydro chịu áp suất cao → tốn kém sản xuất.</a:t>
            </a:r>
            <a:endParaRPr sz="1600"/>
          </a:p>
          <a:p>
            <a:pPr lvl="1">
              <a:buFont typeface="Arial" panose="020B0604020202020204"/>
              <a:buChar char="◦"/>
            </a:pPr>
            <a:endParaRPr sz="1600"/>
          </a:p>
          <a:p>
            <a:pPr>
              <a:buAutoNum type="arabicPeriod"/>
            </a:pPr>
            <a:r>
              <a:rPr sz="1600"/>
              <a:t>Khó khăn trong lưu trữ &amp; vận chuyển hydro:</a:t>
            </a:r>
            <a:endParaRPr sz="1600"/>
          </a:p>
          <a:p>
            <a:pPr>
              <a:buAutoNum type="arabicPeriod"/>
            </a:pPr>
            <a:endParaRPr sz="1600"/>
          </a:p>
          <a:p>
            <a:pPr lvl="1">
              <a:buFont typeface="Arial" panose="020B0604020202020204"/>
              <a:buChar char="◦"/>
            </a:pPr>
            <a:r>
              <a:rPr sz="1600"/>
              <a:t>Hydro dễ cháy nổ, phải nén áp suất cực cao hoặc hóa lỏng ở nhiệt độ thấp → phức tạp.</a:t>
            </a:r>
            <a:endParaRPr sz="1600"/>
          </a:p>
          <a:p>
            <a:pPr lvl="1">
              <a:buFont typeface="Arial" panose="020B0604020202020204"/>
              <a:buChar char="◦"/>
            </a:pPr>
            <a:endParaRPr sz="1600"/>
          </a:p>
          <a:p>
            <a:pPr>
              <a:buAutoNum type="arabicPeriod"/>
            </a:pPr>
            <a:r>
              <a:rPr sz="1600"/>
              <a:t>Tuổi thọ pin nhiên liệu:</a:t>
            </a:r>
            <a:endParaRPr sz="1600"/>
          </a:p>
          <a:p>
            <a:pPr>
              <a:buAutoNum type="arabicPeriod"/>
            </a:pPr>
            <a:endParaRPr sz="1600"/>
          </a:p>
          <a:p>
            <a:pPr lvl="1">
              <a:buFont typeface="Arial" panose="020B0604020202020204"/>
              <a:buChar char="◦"/>
            </a:pPr>
            <a:r>
              <a:rPr sz="1600"/>
              <a:t>Hiện tại ~5.000–8.000 giờ vận hành (thấp hơn tuổi thọ động cơ xăng/diesel).</a:t>
            </a:r>
            <a:endParaRPr sz="1600"/>
          </a:p>
          <a:p>
            <a:pPr lvl="1">
              <a:buFont typeface="Arial" panose="020B0604020202020204"/>
              <a:buChar char="◦"/>
            </a:pPr>
            <a:endParaRPr sz="1600"/>
          </a:p>
          <a:p>
            <a:pPr>
              <a:buAutoNum type="arabicPeriod"/>
            </a:pPr>
            <a:r>
              <a:rPr sz="1600"/>
              <a:t>Nguồn sản xuất hydro chưa xanh:</a:t>
            </a:r>
            <a:endParaRPr sz="1600"/>
          </a:p>
          <a:p>
            <a:pPr>
              <a:buAutoNum type="arabicPeriod"/>
            </a:pPr>
            <a:endParaRPr sz="1600"/>
          </a:p>
          <a:p>
            <a:pPr lvl="1">
              <a:buFont typeface="Arial" panose="020B0604020202020204"/>
              <a:buChar char="◦"/>
            </a:pPr>
            <a:r>
              <a:rPr sz="1600"/>
              <a:t>Phần lớn hydro hiện nay sản xuất từ khí tự nhiên (CH₄) → vẫn phát thải CO₂.</a:t>
            </a:r>
            <a:endParaRPr sz="1600"/>
          </a:p>
        </p:txBody>
      </p:sp>
      <p:pic>
        <p:nvPicPr>
          <p:cNvPr id="3" name="Picture 2"/>
          <p:cNvPicPr>
            <a:picLocks noChangeAspect="1"/>
          </p:cNvPicPr>
          <p:nvPr/>
        </p:nvPicPr>
        <p:blipFill>
          <a:blip r:embed="rId1"/>
          <a:stretch>
            <a:fillRect/>
          </a:stretch>
        </p:blipFill>
        <p:spPr>
          <a:xfrm>
            <a:off x="6729095" y="321310"/>
            <a:ext cx="4827270" cy="33369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theme/theme1.xml><?xml version="1.0" encoding="utf-8"?>
<a:theme xmlns:a="http://schemas.openxmlformats.org/drawingml/2006/main" name="Orange Waves">
  <a:themeElements>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fontScheme name="Orang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Orang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rang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rang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rang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rang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rang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ang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rang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rang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rang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rang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rang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5899</Words>
  <Application>WPS Presentation</Application>
  <PresentationFormat>Widescreen</PresentationFormat>
  <Paragraphs>259</Paragraphs>
  <Slides>16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16</vt:i4>
      </vt:variant>
    </vt:vector>
  </HeadingPairs>
  <TitlesOfParts>
    <vt:vector size="25" baseType="lpstr">
      <vt:lpstr>Arial</vt:lpstr>
      <vt:lpstr>SimSun</vt:lpstr>
      <vt:lpstr>Wingdings</vt:lpstr>
      <vt:lpstr>Arial</vt:lpstr>
      <vt:lpstr>Times New Roman</vt:lpstr>
      <vt:lpstr>Microsoft YaHei</vt:lpstr>
      <vt:lpstr>Arial Unicode MS</vt:lpstr>
      <vt:lpstr>Calibri</vt:lpstr>
      <vt:lpstr>Orange Waves</vt:lpstr>
      <vt:lpstr>Xe Oto Điện</vt:lpstr>
      <vt:lpstr>1. Xe điện (EV – Electric Vehicle)  Xe điện là loại xe sử dụng động cơ điện thay cho động cơ đốt trong. Năng lượng được lưu trữ trong pin (Battery Pack) và cung cấp cho động cơ điện thông qua bộ điều khiển công suất (Inverter/Controller).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Xe Oto Điện</dc:title>
  <dc:creator/>
  <cp:lastModifiedBy>Huy Nguyễn</cp:lastModifiedBy>
  <cp:revision>2</cp:revision>
  <dcterms:created xsi:type="dcterms:W3CDTF">2025-08-27T15:43:00Z</dcterms:created>
  <dcterms:modified xsi:type="dcterms:W3CDTF">2025-08-29T06:26:01Z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BEF076AB7DF7473EBB7496833996792E_11</vt:lpwstr>
  </property>
  <property fmtid="{D5CDD505-2E9C-101B-9397-08002B2CF9AE}" pid="3" name="KSOProductBuildVer">
    <vt:lpwstr>1033-12.2.0.21931</vt:lpwstr>
  </property>
</Properties>
</file>