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2"/>
    <p:sldId id="257" r:id="rId3"/>
    <p:sldId id="258" r:id="rId4"/>
    <p:sldId id="259" r:id="rId5"/>
    <p:sldId id="256" r:id="rId6"/>
    <p:sldId id="261" r:id="rId7"/>
    <p:sldId id="263"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87" d="100"/>
          <a:sy n="87" d="100"/>
        </p:scale>
        <p:origin x="487" y="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Grp="1"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a:t>Click to edit Master subtitle style</a:t>
            </a:r>
          </a:p>
        </p:txBody>
      </p:sp>
      <p:sp>
        <p:nvSpPr>
          <p:cNvPr id="2056" name="Rectangle 8"/>
          <p:cNvSpPr>
            <a:spLocks noGrp="1" noChangeArrowheads="1"/>
          </p:cNvSpPr>
          <p:nvPr>
            <p:ph type="ctrTitle"/>
          </p:nvPr>
        </p:nvSpPr>
        <p:spPr>
          <a:xfrm>
            <a:off x="1007533" y="620713"/>
            <a:ext cx="10363200" cy="1470025"/>
          </a:xfrm>
        </p:spPr>
        <p:txBody>
          <a:bodyPr/>
          <a:lstStyle>
            <a:lvl1pPr>
              <a:defRPr sz="3600"/>
            </a:lvl1pPr>
          </a:lstStyle>
          <a:p>
            <a:pPr lvl="0"/>
            <a:r>
              <a:rPr lang="en-US" altLang="zh-CN" noProof="0"/>
              <a:t>Click to edit Master title style</a:t>
            </a:r>
          </a:p>
        </p:txBody>
      </p:sp>
      <p:sp>
        <p:nvSpPr>
          <p:cNvPr id="11" name="Rectangle 4"/>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12/16/2025</a:t>
            </a:fld>
            <a:endParaRPr lang="en-US"/>
          </a:p>
        </p:txBody>
      </p:sp>
      <p:sp>
        <p:nvSpPr>
          <p:cNvPr id="12" name="Rectangle 5"/>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3"/>
          <a:srcRect t="1094" r="8122" b="13318"/>
          <a:stretch>
            <a:fillRect/>
          </a:stretch>
        </p:blipFill>
        <p:spPr>
          <a:xfrm>
            <a:off x="7730067" y="4438650"/>
            <a:ext cx="4453467" cy="2333625"/>
          </a:xfrm>
          <a:prstGeom prst="rect">
            <a:avLst/>
          </a:prstGeom>
          <a:noFill/>
          <a:ln w="9525">
            <a:noFill/>
          </a:ln>
        </p:spPr>
      </p:pic>
      <p:sp>
        <p:nvSpPr>
          <p:cNvPr id="1028" name="Rectangle 4"/>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5"/>
          <p:cNvSpPr>
            <a:spLocks noGrp="1"/>
          </p:cNvSpPr>
          <p:nvPr>
            <p:ph type="body" idx="1"/>
          </p:nvPr>
        </p:nvSpPr>
        <p:spPr>
          <a:xfrm>
            <a:off x="609600" y="1600200"/>
            <a:ext cx="109728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30" name="Rectangle 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12/16/2025</a:t>
            </a:fld>
            <a:endParaRPr 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a:t>Tổng Kết Chương 2</a:t>
            </a:r>
          </a:p>
        </p:txBody>
      </p:sp>
      <p:sp>
        <p:nvSpPr>
          <p:cNvPr id="3" name="Text Box 2"/>
          <p:cNvSpPr txBox="1"/>
          <p:nvPr/>
        </p:nvSpPr>
        <p:spPr>
          <a:xfrm>
            <a:off x="752475" y="1861185"/>
            <a:ext cx="4064000" cy="1198880"/>
          </a:xfrm>
          <a:prstGeom prst="rect">
            <a:avLst/>
          </a:prstGeom>
          <a:noFill/>
        </p:spPr>
        <p:txBody>
          <a:bodyPr wrap="square" rtlCol="0">
            <a:spAutoFit/>
          </a:bodyPr>
          <a:lstStyle/>
          <a:p>
            <a:r>
              <a:rPr lang="vi-VN" altLang="en-US" sz="2400" dirty="0"/>
              <a:t>Họ và tên:Nguyễn Văn Tiền</a:t>
            </a:r>
          </a:p>
          <a:p>
            <a:r>
              <a:rPr lang="vi-VN" altLang="en-US" sz="2400" dirty="0"/>
              <a:t>Lớp:D_CNKO13A</a:t>
            </a:r>
          </a:p>
          <a:p>
            <a:endParaRPr lang="vi-VN" alt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Hệ thống sạc</a:t>
            </a:r>
            <a:r>
              <a:rPr lang="vi-VN" altLang="en-US"/>
              <a:t> pin</a:t>
            </a:r>
            <a:r>
              <a:rPr lang="en-US" altLang="en-US"/>
              <a:t> cho xe</a:t>
            </a:r>
            <a:r>
              <a:rPr lang="vi-VN" altLang="en-US"/>
              <a:t> oto</a:t>
            </a:r>
            <a:r>
              <a:rPr lang="en-US" altLang="en-US"/>
              <a:t> </a:t>
            </a:r>
            <a:r>
              <a:rPr lang="" altLang="en-US"/>
              <a:t>đ</a:t>
            </a:r>
            <a:r>
              <a:rPr lang="en-US" altLang="en-US"/>
              <a:t>iện</a:t>
            </a:r>
          </a:p>
        </p:txBody>
      </p:sp>
      <p:sp>
        <p:nvSpPr>
          <p:cNvPr id="3" name="Text Box 2"/>
          <p:cNvSpPr txBox="1"/>
          <p:nvPr/>
        </p:nvSpPr>
        <p:spPr>
          <a:xfrm>
            <a:off x="296545" y="1496060"/>
            <a:ext cx="8339455" cy="5361940"/>
          </a:xfrm>
          <a:prstGeom prst="rect">
            <a:avLst/>
          </a:prstGeom>
        </p:spPr>
        <p:txBody>
          <a:bodyPr>
            <a:noAutofit/>
          </a:bodyPr>
          <a:lstStyle/>
          <a:p>
            <a:pPr>
              <a:spcAft>
                <a:spcPct val="0"/>
              </a:spcAft>
            </a:pPr>
            <a:r>
              <a:rPr b="1"/>
              <a:t>1. Khái niệm</a:t>
            </a:r>
          </a:p>
          <a:p>
            <a:r>
              <a:t>Hệ thống sạc pin ô tô điện là tập hợp các thiết bị và mạch điện dùng để chuyển đổi điện năng từ lưới điện hoặc nguồn ngoài thành dòng điện phù hợp để nạp vào pin của xe, đảm bảo an toàn, nhanh chóng và kéo dài tuổi thọ pin.</a:t>
            </a:r>
          </a:p>
          <a:p>
            <a:pPr>
              <a:spcAft>
                <a:spcPct val="0"/>
              </a:spcAft>
            </a:pPr>
            <a:r>
              <a:rPr b="1"/>
              <a:t>2. Các thành phần chính</a:t>
            </a:r>
          </a:p>
          <a:p>
            <a:pPr>
              <a:spcAft>
                <a:spcPct val="0"/>
              </a:spcAft>
            </a:pPr>
            <a:endParaRPr b="1"/>
          </a:p>
          <a:p>
            <a:pPr>
              <a:buFont typeface="Arial" panose="020B0604020202020204"/>
              <a:buChar char="•"/>
            </a:pPr>
            <a:r>
              <a:t>Ổ cắm/đầu nối sạc (Charging Connector): Chuẩn kết nối giữa xe và trạm sạc (Type 1, Type 2, CCS, CHAdeMO…).</a:t>
            </a:r>
          </a:p>
          <a:p>
            <a:pPr>
              <a:buFont typeface="Arial" panose="020B0604020202020204"/>
              <a:buChar char="•"/>
            </a:pPr>
            <a:endParaRPr/>
          </a:p>
          <a:p>
            <a:pPr>
              <a:buFont typeface="Arial" panose="020B0604020202020204"/>
              <a:buChar char="•"/>
            </a:pPr>
            <a:r>
              <a:t>Bộ sạc trên xe (On-board Charger – OBC): Chuyển đổi điện AC từ lưới thành DC để nạp vào pin.</a:t>
            </a:r>
          </a:p>
          <a:p>
            <a:pPr>
              <a:buFont typeface="Arial" panose="020B0604020202020204"/>
              <a:buChar char="•"/>
            </a:pPr>
            <a:endParaRPr/>
          </a:p>
          <a:p>
            <a:pPr>
              <a:buFont typeface="Arial" panose="020B0604020202020204"/>
              <a:buChar char="•"/>
            </a:pPr>
            <a:r>
              <a:t>Bộ sạc ngoài xe (Off-board Charger): Thường dùng cho sạc nhanh DC, đặt tại trạm sạc công cộng.</a:t>
            </a:r>
          </a:p>
          <a:p>
            <a:pPr>
              <a:buFont typeface="Arial" panose="020B0604020202020204"/>
              <a:buChar char="•"/>
            </a:pPr>
            <a:endParaRPr/>
          </a:p>
          <a:p>
            <a:pPr>
              <a:buFont typeface="Arial" panose="020B0604020202020204"/>
              <a:buChar char="•"/>
            </a:pPr>
            <a:r>
              <a:t>Pin điện áp cao (Battery Pack): Bộ phận lưu trữ năng lượng.</a:t>
            </a:r>
          </a:p>
          <a:p>
            <a:pPr>
              <a:buFont typeface="Arial" panose="020B0604020202020204"/>
              <a:buChar char="•"/>
            </a:pPr>
            <a:endParaRPr/>
          </a:p>
          <a:p>
            <a:pPr>
              <a:buFont typeface="Arial" panose="020B0604020202020204"/>
              <a:buChar char="•"/>
            </a:pPr>
            <a:r>
              <a:t>Bộ quản lý pin (BMS – Battery Management System): Giám sát nhiệt độ, điện áp, dòng điện để bảo vệ pin.</a:t>
            </a:r>
          </a:p>
          <a:p>
            <a:pPr>
              <a:spcAft>
                <a:spcPct val="0"/>
              </a:spcAft>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Hệ thống sạc pin cho xe</a:t>
            </a:r>
            <a:r>
              <a:rPr lang="vi-VN" altLang="en-US">
                <a:sym typeface="+mn-ea"/>
              </a:rPr>
              <a:t> oto</a:t>
            </a:r>
            <a:r>
              <a:rPr lang="en-US" altLang="en-US">
                <a:sym typeface="+mn-ea"/>
              </a:rPr>
              <a:t> điện</a:t>
            </a:r>
            <a:endParaRPr lang="en-US"/>
          </a:p>
        </p:txBody>
      </p:sp>
      <p:sp>
        <p:nvSpPr>
          <p:cNvPr id="3" name="Text Box 2"/>
          <p:cNvSpPr txBox="1"/>
          <p:nvPr/>
        </p:nvSpPr>
        <p:spPr>
          <a:xfrm>
            <a:off x="375920" y="1418590"/>
            <a:ext cx="6025515" cy="5196840"/>
          </a:xfrm>
          <a:prstGeom prst="rect">
            <a:avLst/>
          </a:prstGeom>
        </p:spPr>
        <p:txBody>
          <a:bodyPr>
            <a:noAutofit/>
          </a:bodyPr>
          <a:lstStyle/>
          <a:p>
            <a:pPr>
              <a:spcAft>
                <a:spcPct val="0"/>
              </a:spcAft>
            </a:pPr>
            <a:r>
              <a:rPr sz="1600" b="1"/>
              <a:t>Phân loại hệ thống sạc</a:t>
            </a:r>
          </a:p>
          <a:p>
            <a:pPr>
              <a:spcAft>
                <a:spcPct val="0"/>
              </a:spcAft>
            </a:pPr>
            <a:r>
              <a:rPr sz="1600" b="1"/>
              <a:t>a) Theo loại dòng điện</a:t>
            </a:r>
          </a:p>
          <a:p>
            <a:pPr>
              <a:spcAft>
                <a:spcPct val="0"/>
              </a:spcAft>
            </a:pPr>
            <a:endParaRPr sz="1600" b="1"/>
          </a:p>
          <a:p>
            <a:pPr>
              <a:buFont typeface="Arial" panose="020B0604020202020204"/>
              <a:buChar char="•"/>
            </a:pPr>
            <a:r>
              <a:rPr sz="1600"/>
              <a:t>Sạc AC (xoay chiều):</a:t>
            </a:r>
          </a:p>
          <a:p>
            <a:pPr>
              <a:buFont typeface="Arial" panose="020B0604020202020204"/>
              <a:buChar char="•"/>
            </a:pPr>
            <a:endParaRPr sz="1600"/>
          </a:p>
          <a:p>
            <a:pPr lvl="1">
              <a:buFont typeface="Arial" panose="020B0604020202020204"/>
              <a:buChar char="◦"/>
            </a:pPr>
            <a:r>
              <a:rPr sz="1600"/>
              <a:t>Công suất nhỏ (2–22 kW).</a:t>
            </a:r>
          </a:p>
          <a:p>
            <a:pPr lvl="1">
              <a:buFont typeface="Arial" panose="020B0604020202020204"/>
              <a:buChar char="◦"/>
            </a:pPr>
            <a:endParaRPr sz="1600"/>
          </a:p>
          <a:p>
            <a:pPr lvl="1">
              <a:buFont typeface="Arial" panose="020B0604020202020204"/>
              <a:buChar char="◦"/>
            </a:pPr>
            <a:r>
              <a:rPr sz="1600"/>
              <a:t>Tốc độ chậm, thường dùng tại nhà hoặc bãi đỗ xe.</a:t>
            </a:r>
          </a:p>
          <a:p>
            <a:pPr lvl="1">
              <a:buFont typeface="Arial" panose="020B0604020202020204"/>
              <a:buChar char="◦"/>
            </a:pPr>
            <a:endParaRPr sz="1600"/>
          </a:p>
          <a:p>
            <a:pPr>
              <a:buFont typeface="Arial" panose="020B0604020202020204"/>
              <a:buChar char="•"/>
            </a:pPr>
            <a:r>
              <a:rPr sz="1600"/>
              <a:t>Sạc DC (một chiều):</a:t>
            </a:r>
          </a:p>
          <a:p>
            <a:pPr>
              <a:buFont typeface="Arial" panose="020B0604020202020204"/>
              <a:buChar char="•"/>
            </a:pPr>
            <a:endParaRPr sz="1600"/>
          </a:p>
          <a:p>
            <a:pPr lvl="1">
              <a:buFont typeface="Arial" panose="020B0604020202020204"/>
              <a:buChar char="◦"/>
            </a:pPr>
            <a:r>
              <a:rPr sz="1600"/>
              <a:t>Công suất lớn (50–350 kW).</a:t>
            </a:r>
          </a:p>
          <a:p>
            <a:pPr lvl="1">
              <a:buFont typeface="Arial" panose="020B0604020202020204"/>
              <a:buChar char="◦"/>
            </a:pPr>
            <a:endParaRPr sz="1600"/>
          </a:p>
          <a:p>
            <a:pPr lvl="1">
              <a:buFont typeface="Arial" panose="020B0604020202020204"/>
              <a:buChar char="◦"/>
            </a:pPr>
            <a:r>
              <a:rPr sz="1600"/>
              <a:t>Sạc nhanh, thường dùng tại trạm sạc công cộng.</a:t>
            </a:r>
          </a:p>
          <a:p>
            <a:pPr>
              <a:spcAft>
                <a:spcPct val="0"/>
              </a:spcAft>
            </a:pPr>
            <a:r>
              <a:rPr sz="1600" b="1"/>
              <a:t>b) Theo mức công suất</a:t>
            </a:r>
          </a:p>
          <a:p>
            <a:pPr>
              <a:spcAft>
                <a:spcPct val="0"/>
              </a:spcAft>
            </a:pPr>
            <a:endParaRPr sz="1600" b="1"/>
          </a:p>
          <a:p>
            <a:pPr>
              <a:buFont typeface="Arial" panose="020B0604020202020204"/>
              <a:buChar char="•"/>
            </a:pPr>
            <a:r>
              <a:rPr sz="1600"/>
              <a:t>Sạc chậm (Slow charging): 6–8 giờ.</a:t>
            </a:r>
          </a:p>
          <a:p>
            <a:pPr>
              <a:buFont typeface="Arial" panose="020B0604020202020204"/>
              <a:buChar char="•"/>
            </a:pPr>
            <a:endParaRPr sz="1600"/>
          </a:p>
          <a:p>
            <a:pPr>
              <a:buFont typeface="Arial" panose="020B0604020202020204"/>
              <a:buChar char="•"/>
            </a:pPr>
            <a:r>
              <a:rPr sz="1600"/>
              <a:t>Sạc nhanh (Fast charging): 30 phút – 2 giờ.</a:t>
            </a:r>
          </a:p>
          <a:p>
            <a:pPr>
              <a:buFont typeface="Arial" panose="020B0604020202020204"/>
              <a:buChar char="•"/>
            </a:pPr>
            <a:endParaRPr sz="1600"/>
          </a:p>
          <a:p>
            <a:pPr>
              <a:buFont typeface="Arial" panose="020B0604020202020204"/>
              <a:buChar char="•"/>
            </a:pPr>
            <a:r>
              <a:rPr sz="1600"/>
              <a:t>Sạc siêu nhanh (Ultra-fast charging): &lt; 30 phút.</a:t>
            </a:r>
          </a:p>
          <a:p>
            <a:pPr>
              <a:spcAft>
                <a:spcPct val="0"/>
              </a:spcAft>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Hệ thống sạc pin cho xe</a:t>
            </a:r>
            <a:r>
              <a:rPr lang="vi-VN" altLang="en-US">
                <a:sym typeface="+mn-ea"/>
              </a:rPr>
              <a:t> oto</a:t>
            </a:r>
            <a:r>
              <a:rPr lang="en-US" altLang="en-US">
                <a:sym typeface="+mn-ea"/>
              </a:rPr>
              <a:t> điện</a:t>
            </a:r>
            <a:endParaRPr lang="en-US"/>
          </a:p>
        </p:txBody>
      </p:sp>
      <p:sp>
        <p:nvSpPr>
          <p:cNvPr id="3" name="Text Box 2"/>
          <p:cNvSpPr txBox="1"/>
          <p:nvPr/>
        </p:nvSpPr>
        <p:spPr>
          <a:xfrm>
            <a:off x="217170" y="1593215"/>
            <a:ext cx="8811260" cy="5069840"/>
          </a:xfrm>
          <a:prstGeom prst="rect">
            <a:avLst/>
          </a:prstGeom>
          <a:noFill/>
        </p:spPr>
        <p:txBody>
          <a:bodyPr wrap="square" rtlCol="0" anchor="t">
            <a:noAutofit/>
          </a:bodyPr>
          <a:lstStyle/>
          <a:p>
            <a:pPr>
              <a:spcAft>
                <a:spcPct val="0"/>
              </a:spcAft>
            </a:pPr>
            <a:r>
              <a:rPr sz="2400" b="1">
                <a:sym typeface="+mn-ea"/>
              </a:rPr>
              <a:t>4. Nguyên lý hoạt động</a:t>
            </a:r>
            <a:endParaRPr sz="2400" b="1"/>
          </a:p>
          <a:p>
            <a:pPr>
              <a:spcAft>
                <a:spcPct val="0"/>
              </a:spcAft>
            </a:pPr>
            <a:endParaRPr sz="2400" b="1"/>
          </a:p>
          <a:p>
            <a:pPr>
              <a:buAutoNum type="arabicPeriod"/>
            </a:pPr>
            <a:r>
              <a:rPr sz="2400">
                <a:sym typeface="+mn-ea"/>
              </a:rPr>
              <a:t>Xe kết nối với trạm sạc qua cổng sạc.</a:t>
            </a:r>
            <a:endParaRPr sz="2400"/>
          </a:p>
          <a:p>
            <a:pPr>
              <a:buAutoNum type="arabicPeriod"/>
            </a:pPr>
            <a:endParaRPr sz="2400"/>
          </a:p>
          <a:p>
            <a:pPr>
              <a:buAutoNum type="arabicPeriod"/>
            </a:pPr>
            <a:r>
              <a:rPr sz="2400">
                <a:sym typeface="+mn-ea"/>
              </a:rPr>
              <a:t>Bộ sạc xác định công suất và loại dòng điện phù hợp.</a:t>
            </a:r>
            <a:endParaRPr sz="2400"/>
          </a:p>
          <a:p>
            <a:pPr>
              <a:buAutoNum type="arabicPeriod"/>
            </a:pPr>
            <a:endParaRPr sz="2400"/>
          </a:p>
          <a:p>
            <a:pPr>
              <a:buAutoNum type="arabicPeriod"/>
            </a:pPr>
            <a:r>
              <a:rPr sz="2400">
                <a:sym typeface="+mn-ea"/>
              </a:rPr>
              <a:t>Nguồn điện được biến đổi (AC → DC hoặc DC trực tiếp).</a:t>
            </a:r>
            <a:endParaRPr sz="2400"/>
          </a:p>
          <a:p>
            <a:pPr>
              <a:buAutoNum type="arabicPeriod"/>
            </a:pPr>
            <a:endParaRPr sz="2400"/>
          </a:p>
          <a:p>
            <a:pPr>
              <a:buAutoNum type="arabicPeriod"/>
            </a:pPr>
            <a:r>
              <a:rPr sz="2400">
                <a:sym typeface="+mn-ea"/>
              </a:rPr>
              <a:t>Nạp năng lượng vào pin dưới sự giám sát của BMS.</a:t>
            </a:r>
            <a:endParaRPr sz="2400"/>
          </a:p>
          <a:p>
            <a:pPr>
              <a:buAutoNum type="arabicPeriod"/>
            </a:pPr>
            <a:endParaRPr sz="2400"/>
          </a:p>
          <a:p>
            <a:pPr>
              <a:buAutoNum type="arabicPeriod"/>
            </a:pPr>
            <a:r>
              <a:rPr sz="2400">
                <a:sym typeface="+mn-ea"/>
              </a:rPr>
              <a:t>Ngắt sạc tự động khi pin đầy hoặc có sự cố.</a:t>
            </a:r>
            <a:endParaRPr lang="en-US" sz="240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a:t>Giới thiệu chung về Pin</a:t>
            </a:r>
            <a:r>
              <a:rPr lang="vi-VN" altLang="en-US"/>
              <a:t> xe oto điện</a:t>
            </a:r>
          </a:p>
        </p:txBody>
      </p:sp>
      <p:sp>
        <p:nvSpPr>
          <p:cNvPr id="6" name="Text Box 5"/>
          <p:cNvSpPr txBox="1"/>
          <p:nvPr/>
        </p:nvSpPr>
        <p:spPr>
          <a:xfrm>
            <a:off x="316230" y="1572895"/>
            <a:ext cx="7109460" cy="4335145"/>
          </a:xfrm>
          <a:prstGeom prst="rect">
            <a:avLst/>
          </a:prstGeom>
        </p:spPr>
        <p:txBody>
          <a:bodyPr>
            <a:noAutofit/>
          </a:bodyPr>
          <a:lstStyle/>
          <a:p>
            <a:r>
              <a:t>Khái niệm:</a:t>
            </a:r>
          </a:p>
          <a:p>
            <a:r>
              <a:t> Pin xe ô tô điện (EV Battery) là bộ phận lưu trữ năng lượng điện để cung cấp cho động cơ điện vận hành xe.</a:t>
            </a:r>
          </a:p>
          <a:p>
            <a:endParaRPr/>
          </a:p>
          <a:p>
            <a:r>
              <a:rPr lang="" altLang="en-US"/>
              <a:t>Đ</a:t>
            </a:r>
            <a:r>
              <a:rPr lang="en-US" altLang="en-US"/>
              <a:t>ặc </a:t>
            </a:r>
            <a:r>
              <a:rPr lang="" altLang="en-US"/>
              <a:t>đ</a:t>
            </a:r>
            <a:r>
              <a:rPr lang="en-US" altLang="en-US"/>
              <a:t>iểm chính</a:t>
            </a:r>
            <a:r>
              <a:rPr lang="vi-VN" altLang="en-US"/>
              <a:t> củ</a:t>
            </a:r>
            <a:r>
              <a:rPr lang="en-US" altLang="en-US"/>
              <a:t>:</a:t>
            </a:r>
          </a:p>
          <a:p>
            <a:endParaRPr lang="en-US" altLang="en-US"/>
          </a:p>
          <a:p>
            <a:r>
              <a:rPr lang="en-US" altLang="en-US"/>
              <a:t>Sử dụng phổ biến nhất hiện nay là pin Lithium-ion nhờ dung l</a:t>
            </a:r>
            <a:r>
              <a:rPr lang="" altLang="en-US"/>
              <a:t>ư</a:t>
            </a:r>
            <a:r>
              <a:rPr lang="en-US" altLang="en-US"/>
              <a:t>ợng cao, trọng l</a:t>
            </a:r>
            <a:r>
              <a:rPr lang="" altLang="en-US"/>
              <a:t>ư</a:t>
            </a:r>
            <a:r>
              <a:rPr lang="en-US" altLang="en-US"/>
              <a:t>ợng nhẹ và khả n</a:t>
            </a:r>
            <a:r>
              <a:rPr lang="" altLang="en-US"/>
              <a:t>ă</a:t>
            </a:r>
            <a:r>
              <a:rPr lang="en-US" altLang="en-US"/>
              <a:t>ng sạc xả tốt.</a:t>
            </a:r>
          </a:p>
          <a:p>
            <a:endParaRPr lang="en-US" altLang="en-US"/>
          </a:p>
          <a:p>
            <a:r>
              <a:rPr lang="" altLang="en-US"/>
              <a:t>Đ</a:t>
            </a:r>
            <a:r>
              <a:rPr lang="en-US" altLang="en-US"/>
              <a:t>iện áp cao (200 – 800V) </a:t>
            </a:r>
            <a:r>
              <a:rPr lang="" altLang="en-US"/>
              <a:t>đ</a:t>
            </a:r>
            <a:r>
              <a:rPr lang="en-US" altLang="en-US"/>
              <a:t>ể </a:t>
            </a:r>
            <a:r>
              <a:rPr lang="" altLang="en-US"/>
              <a:t>đ</a:t>
            </a:r>
            <a:r>
              <a:rPr lang="en-US" altLang="en-US"/>
              <a:t>áp ứng nhu cầu công suất lớn.</a:t>
            </a:r>
          </a:p>
          <a:p>
            <a:endParaRPr lang="en-US" altLang="en-US"/>
          </a:p>
          <a:p>
            <a:r>
              <a:rPr lang="en-US" altLang="en-US"/>
              <a:t>Dung l</a:t>
            </a:r>
            <a:r>
              <a:rPr lang="" altLang="en-US"/>
              <a:t>ư</a:t>
            </a:r>
            <a:r>
              <a:rPr lang="en-US" altLang="en-US"/>
              <a:t>ợng pin th</a:t>
            </a:r>
            <a:r>
              <a:rPr lang="" altLang="en-US"/>
              <a:t>ư</a:t>
            </a:r>
            <a:r>
              <a:rPr lang="en-US" altLang="en-US"/>
              <a:t>ờng từ 20 kWh </a:t>
            </a:r>
            <a:r>
              <a:rPr lang="" altLang="en-US"/>
              <a:t>đ</a:t>
            </a:r>
            <a:r>
              <a:rPr lang="en-US" altLang="en-US"/>
              <a:t>ến trên 100 kWh, tùy dòng xe.</a:t>
            </a:r>
          </a:p>
          <a:p>
            <a:endParaRPr lang="en-US" altLang="en-US"/>
          </a:p>
          <a:p>
            <a:r>
              <a:rPr lang="en-US" altLang="en-US"/>
              <a:t>Tuổi thọ trung bình: 8 – 10 n</a:t>
            </a:r>
            <a:r>
              <a:rPr lang="" altLang="en-US"/>
              <a:t>ă</a:t>
            </a:r>
            <a:r>
              <a:rPr lang="en-US" altLang="en-US"/>
              <a:t>m hoặc 1.500 – 2.000 chu kỳ sạc.</a:t>
            </a:r>
          </a:p>
          <a:p>
            <a:endParaRPr lang="en-US" altLang="en-US" sz="1000"/>
          </a:p>
          <a:p>
            <a:endParaRPr lang="en-US" alt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Giới thiệu chung về Pin</a:t>
            </a:r>
            <a:r>
              <a:rPr lang="vi-VN" altLang="en-US">
                <a:sym typeface="+mn-ea"/>
              </a:rPr>
              <a:t> xe oto điện</a:t>
            </a:r>
            <a:endParaRPr lang="en-US"/>
          </a:p>
        </p:txBody>
      </p:sp>
      <p:sp>
        <p:nvSpPr>
          <p:cNvPr id="3" name="Text Box 2"/>
          <p:cNvSpPr txBox="1"/>
          <p:nvPr/>
        </p:nvSpPr>
        <p:spPr>
          <a:xfrm>
            <a:off x="509905" y="1728470"/>
            <a:ext cx="8634095" cy="4585335"/>
          </a:xfrm>
          <a:prstGeom prst="rect">
            <a:avLst/>
          </a:prstGeom>
          <a:noFill/>
        </p:spPr>
        <p:txBody>
          <a:bodyPr wrap="square" rtlCol="0" anchor="t">
            <a:noAutofit/>
          </a:bodyPr>
          <a:lstStyle/>
          <a:p>
            <a:r>
              <a:rPr lang="en-US" altLang="en-US" sz="1600">
                <a:sym typeface="+mn-ea"/>
              </a:rPr>
              <a:t>Cấu tạo cơ bản:</a:t>
            </a:r>
            <a:endParaRPr lang="en-US" altLang="en-US" sz="1600"/>
          </a:p>
          <a:p>
            <a:endParaRPr lang="en-US" altLang="en-US" sz="1600"/>
          </a:p>
          <a:p>
            <a:r>
              <a:rPr lang="en-US" altLang="en-US" sz="1600">
                <a:sym typeface="+mn-ea"/>
              </a:rPr>
              <a:t>Cell pin: đơn vị nhỏ nhất, tạo thành module.</a:t>
            </a:r>
            <a:endParaRPr lang="en-US" altLang="en-US" sz="1600"/>
          </a:p>
          <a:p>
            <a:endParaRPr lang="en-US" altLang="en-US" sz="1600"/>
          </a:p>
          <a:p>
            <a:r>
              <a:rPr lang="en-US" altLang="en-US" sz="1600">
                <a:sym typeface="+mn-ea"/>
              </a:rPr>
              <a:t>Module pin: tập hợp nhiều cell.</a:t>
            </a:r>
            <a:endParaRPr lang="en-US" altLang="en-US" sz="1600"/>
          </a:p>
          <a:p>
            <a:endParaRPr lang="en-US" altLang="en-US" sz="1600"/>
          </a:p>
          <a:p>
            <a:r>
              <a:rPr lang="en-US" altLang="en-US" sz="1600">
                <a:sym typeface="+mn-ea"/>
              </a:rPr>
              <a:t>Pack pin: gồm nhiều module, có hệ thống làm mát và bảo vệ.</a:t>
            </a:r>
            <a:endParaRPr lang="en-US" altLang="en-US" sz="1600"/>
          </a:p>
          <a:p>
            <a:endParaRPr lang="en-US" altLang="en-US" sz="1600"/>
          </a:p>
          <a:p>
            <a:r>
              <a:rPr lang="en-US" altLang="en-US" sz="1600">
                <a:sym typeface="+mn-ea"/>
              </a:rPr>
              <a:t>BMS (Battery Management System): quản lý điện áp, nhiệt độ, chống quá sạc – quá xả.</a:t>
            </a:r>
            <a:endParaRPr lang="en-US" altLang="en-US" sz="1600"/>
          </a:p>
          <a:p>
            <a:endParaRPr lang="en-US" altLang="en-US" sz="1600"/>
          </a:p>
          <a:p>
            <a:r>
              <a:rPr lang="en-US" altLang="en-US" sz="1600">
                <a:sym typeface="+mn-ea"/>
              </a:rPr>
              <a:t>Vai trò:</a:t>
            </a:r>
            <a:endParaRPr lang="en-US" altLang="en-US" sz="1600"/>
          </a:p>
          <a:p>
            <a:endParaRPr lang="en-US" altLang="en-US" sz="1600"/>
          </a:p>
          <a:p>
            <a:r>
              <a:rPr lang="en-US" altLang="en-US" sz="1600">
                <a:sym typeface="+mn-ea"/>
              </a:rPr>
              <a:t>Cung cấp năng lượng cho động cơ điện.</a:t>
            </a:r>
            <a:endParaRPr lang="en-US" altLang="en-US" sz="1600"/>
          </a:p>
          <a:p>
            <a:endParaRPr lang="en-US" altLang="en-US" sz="1600"/>
          </a:p>
          <a:p>
            <a:r>
              <a:rPr lang="en-US" altLang="en-US" sz="1600">
                <a:sym typeface="+mn-ea"/>
              </a:rPr>
              <a:t>Ảnh hưởng đến tốc độ, quãng đường và hiệu suất của xe.</a:t>
            </a:r>
            <a:endParaRPr lang="en-US" altLang="en-US" sz="1600"/>
          </a:p>
          <a:p>
            <a:endParaRPr lang="en-US" altLang="en-US" sz="1600"/>
          </a:p>
          <a:p>
            <a:r>
              <a:rPr lang="en-US" altLang="en-US" sz="1600">
                <a:sym typeface="+mn-ea"/>
              </a:rPr>
              <a:t>Quyết định phần lớn giá thành của xe điện (chiếm 30–40% giá xe).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Phân loại pin xe </a:t>
            </a:r>
            <a:r>
              <a:rPr lang="" altLang="en-US"/>
              <a:t>đ</a:t>
            </a:r>
            <a:r>
              <a:rPr lang="en-US" altLang="en-US"/>
              <a:t>iện và sạc xe </a:t>
            </a:r>
            <a:r>
              <a:rPr lang="" altLang="en-US"/>
              <a:t>đ</a:t>
            </a:r>
            <a:r>
              <a:rPr lang="en-US" altLang="en-US"/>
              <a:t>iện</a:t>
            </a:r>
          </a:p>
        </p:txBody>
      </p:sp>
      <p:sp>
        <p:nvSpPr>
          <p:cNvPr id="3" name="Text Box 2"/>
          <p:cNvSpPr txBox="1"/>
          <p:nvPr/>
        </p:nvSpPr>
        <p:spPr>
          <a:xfrm>
            <a:off x="287020" y="1364615"/>
            <a:ext cx="8197215" cy="4716780"/>
          </a:xfrm>
          <a:prstGeom prst="rect">
            <a:avLst/>
          </a:prstGeom>
        </p:spPr>
        <p:txBody>
          <a:bodyPr>
            <a:noAutofit/>
          </a:bodyPr>
          <a:lstStyle/>
          <a:p>
            <a:pPr>
              <a:spcAft>
                <a:spcPct val="0"/>
              </a:spcAft>
            </a:pPr>
            <a:r>
              <a:rPr sz="2000" b="1"/>
              <a:t>Phân loại Pin xe điện</a:t>
            </a:r>
          </a:p>
          <a:p>
            <a:pPr>
              <a:spcAft>
                <a:spcPct val="0"/>
              </a:spcAft>
            </a:pPr>
            <a:r>
              <a:rPr sz="2000" b="1"/>
              <a:t>a) Theo công nghệ chế tạo</a:t>
            </a:r>
          </a:p>
          <a:p>
            <a:pPr>
              <a:spcAft>
                <a:spcPct val="0"/>
              </a:spcAft>
            </a:pPr>
            <a:endParaRPr sz="2000" b="1"/>
          </a:p>
          <a:p>
            <a:pPr>
              <a:buFont typeface="Arial" panose="020B0604020202020204"/>
              <a:buChar char="•"/>
            </a:pPr>
            <a:r>
              <a:rPr sz="2000"/>
              <a:t>Pin Chì – Axit (Lead-acid):</a:t>
            </a:r>
          </a:p>
          <a:p>
            <a:pPr>
              <a:buFont typeface="Arial" panose="020B0604020202020204"/>
              <a:buChar char="•"/>
            </a:pPr>
            <a:endParaRPr sz="2000"/>
          </a:p>
          <a:p>
            <a:pPr lvl="1">
              <a:buFont typeface="Arial" panose="020B0604020202020204"/>
              <a:buChar char="◦"/>
            </a:pPr>
            <a:r>
              <a:rPr sz="2000"/>
              <a:t>Giá rẻ, bền, nhưng nặng, dung lượng thấp.</a:t>
            </a:r>
          </a:p>
          <a:p>
            <a:pPr lvl="1">
              <a:buFont typeface="Arial" panose="020B0604020202020204"/>
              <a:buChar char="◦"/>
            </a:pPr>
            <a:endParaRPr sz="2000"/>
          </a:p>
          <a:p>
            <a:pPr lvl="1">
              <a:buFont typeface="Arial" panose="020B0604020202020204"/>
              <a:buChar char="◦"/>
            </a:pPr>
            <a:r>
              <a:rPr sz="2000"/>
              <a:t>Ít dùng cho ô tô điện hiện đại.</a:t>
            </a:r>
          </a:p>
          <a:p>
            <a:pPr lvl="1">
              <a:buFont typeface="Arial" panose="020B0604020202020204"/>
              <a:buChar char="◦"/>
            </a:pPr>
            <a:endParaRPr sz="2000"/>
          </a:p>
          <a:p>
            <a:pPr>
              <a:buFont typeface="Arial" panose="020B0604020202020204"/>
              <a:buChar char="•"/>
            </a:pPr>
            <a:r>
              <a:rPr sz="2000"/>
              <a:t>Pin Nickel-Metal Hydride (NiMH):</a:t>
            </a:r>
          </a:p>
          <a:p>
            <a:pPr>
              <a:buFont typeface="Arial" panose="020B0604020202020204"/>
              <a:buChar char="•"/>
            </a:pPr>
            <a:endParaRPr sz="2000"/>
          </a:p>
          <a:p>
            <a:pPr lvl="1">
              <a:buFont typeface="Arial" panose="020B0604020202020204"/>
              <a:buChar char="◦"/>
            </a:pPr>
            <a:r>
              <a:rPr sz="2000"/>
              <a:t>Dùng nhiều trong xe Hybrid đời cũ.</a:t>
            </a:r>
          </a:p>
          <a:p>
            <a:pPr lvl="1">
              <a:buFont typeface="Arial" panose="020B0604020202020204"/>
              <a:buChar char="◦"/>
            </a:pPr>
            <a:endParaRPr sz="2000"/>
          </a:p>
          <a:p>
            <a:pPr lvl="1">
              <a:buFont typeface="Arial" panose="020B0604020202020204"/>
              <a:buChar char="◦"/>
            </a:pPr>
            <a:r>
              <a:rPr sz="2000"/>
              <a:t>Độ bền cao, ít bị chai, nhưng hiệu suất thấp hơn Lithium-ion.</a:t>
            </a:r>
          </a:p>
          <a:p>
            <a:pPr lvl="1">
              <a:buFont typeface="Arial" panose="020B0604020202020204"/>
              <a:buChar char="◦"/>
            </a:pPr>
            <a:endParaRPr sz="1200"/>
          </a:p>
          <a:p>
            <a:pPr>
              <a:spcAft>
                <a:spcPct val="0"/>
              </a:spcAft>
            </a:pP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Phân loại pin xe điện và sạc xe điện</a:t>
            </a:r>
            <a:endParaRPr lang="en-US"/>
          </a:p>
        </p:txBody>
      </p:sp>
      <p:sp>
        <p:nvSpPr>
          <p:cNvPr id="3" name="Text Box 2"/>
          <p:cNvSpPr txBox="1"/>
          <p:nvPr/>
        </p:nvSpPr>
        <p:spPr>
          <a:xfrm>
            <a:off x="609600" y="1863090"/>
            <a:ext cx="7386320" cy="4378960"/>
          </a:xfrm>
          <a:prstGeom prst="rect">
            <a:avLst/>
          </a:prstGeom>
          <a:noFill/>
        </p:spPr>
        <p:txBody>
          <a:bodyPr wrap="square" rtlCol="0" anchor="t">
            <a:noAutofit/>
          </a:bodyPr>
          <a:lstStyle/>
          <a:p>
            <a:pPr>
              <a:buFont typeface="Arial" panose="020B0604020202020204"/>
              <a:buChar char="•"/>
            </a:pPr>
            <a:r>
              <a:rPr sz="2000">
                <a:sym typeface="+mn-ea"/>
              </a:rPr>
              <a:t>Pin Lithium-ion (Li-ion):</a:t>
            </a:r>
            <a:endParaRPr sz="2000"/>
          </a:p>
          <a:p>
            <a:pPr>
              <a:buFont typeface="Arial" panose="020B0604020202020204"/>
              <a:buChar char="•"/>
            </a:pPr>
            <a:endParaRPr sz="2000"/>
          </a:p>
          <a:p>
            <a:pPr lvl="1">
              <a:buFont typeface="Arial" panose="020B0604020202020204"/>
              <a:buChar char="◦"/>
            </a:pPr>
            <a:r>
              <a:rPr sz="2000">
                <a:sym typeface="+mn-ea"/>
              </a:rPr>
              <a:t>Phổ biến nhất hiện nay.</a:t>
            </a:r>
            <a:endParaRPr sz="2000"/>
          </a:p>
          <a:p>
            <a:pPr lvl="1">
              <a:buFont typeface="Arial" panose="020B0604020202020204"/>
              <a:buChar char="◦"/>
            </a:pPr>
            <a:endParaRPr sz="2000"/>
          </a:p>
          <a:p>
            <a:pPr lvl="1">
              <a:buFont typeface="Arial" panose="020B0604020202020204"/>
              <a:buChar char="◦"/>
            </a:pPr>
            <a:r>
              <a:rPr sz="2000">
                <a:sym typeface="+mn-ea"/>
              </a:rPr>
              <a:t>Ưu điểm: năng lượng riêng cao, trọng lượng nhẹ, tuổi thọ dài.</a:t>
            </a:r>
            <a:endParaRPr sz="2000"/>
          </a:p>
          <a:p>
            <a:pPr lvl="1">
              <a:buFont typeface="Arial" panose="020B0604020202020204"/>
              <a:buChar char="◦"/>
            </a:pPr>
            <a:endParaRPr sz="2000"/>
          </a:p>
          <a:p>
            <a:pPr lvl="1">
              <a:buFont typeface="Arial" panose="020B0604020202020204"/>
              <a:buChar char="◦"/>
            </a:pPr>
            <a:r>
              <a:rPr sz="2000">
                <a:sym typeface="+mn-ea"/>
              </a:rPr>
              <a:t>Nhược điểm: giá cao, cần hệ thống quản lý nhiệt.</a:t>
            </a:r>
            <a:endParaRPr sz="2000"/>
          </a:p>
          <a:p>
            <a:pPr lvl="1">
              <a:buFont typeface="Arial" panose="020B0604020202020204"/>
              <a:buChar char="◦"/>
            </a:pPr>
            <a:endParaRPr sz="2000"/>
          </a:p>
          <a:p>
            <a:pPr>
              <a:buFont typeface="Arial" panose="020B0604020202020204"/>
              <a:buChar char="•"/>
            </a:pPr>
            <a:r>
              <a:rPr sz="2000">
                <a:sym typeface="+mn-ea"/>
              </a:rPr>
              <a:t>Pin thể rắn (Solid-state battery – đang nghiên cứu):</a:t>
            </a:r>
            <a:endParaRPr sz="2000"/>
          </a:p>
          <a:p>
            <a:pPr>
              <a:buFont typeface="Arial" panose="020B0604020202020204"/>
              <a:buChar char="•"/>
            </a:pPr>
            <a:endParaRPr sz="2000"/>
          </a:p>
          <a:p>
            <a:pPr lvl="1">
              <a:buFont typeface="Arial" panose="020B0604020202020204"/>
              <a:buChar char="◦"/>
            </a:pPr>
            <a:r>
              <a:rPr sz="2000">
                <a:sym typeface="+mn-ea"/>
              </a:rPr>
              <a:t>Năng lượng cao hơn, an toàn hơn, sạc nhanh hơn.</a:t>
            </a:r>
            <a:endParaRPr sz="2000"/>
          </a:p>
          <a:p>
            <a:pPr lvl="1">
              <a:buFont typeface="Arial" panose="020B0604020202020204"/>
              <a:buChar char="◦"/>
            </a:pPr>
            <a:endParaRPr sz="2000"/>
          </a:p>
          <a:p>
            <a:pPr lvl="1">
              <a:buFont typeface="Arial" panose="020B0604020202020204"/>
              <a:buChar char="◦"/>
            </a:pPr>
            <a:r>
              <a:rPr sz="2000">
                <a:sym typeface="+mn-ea"/>
              </a:rPr>
              <a:t>Hứa hẹn thay thế Li-ion trong tương lai.</a:t>
            </a:r>
            <a:endParaRPr lang="en-US" sz="200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Phân loại pin xe điện và sạc xe điện</a:t>
            </a:r>
            <a:endParaRPr lang="en-US"/>
          </a:p>
        </p:txBody>
      </p:sp>
      <p:sp>
        <p:nvSpPr>
          <p:cNvPr id="3" name="Text Box 2"/>
          <p:cNvSpPr txBox="1"/>
          <p:nvPr/>
        </p:nvSpPr>
        <p:spPr>
          <a:xfrm>
            <a:off x="438785" y="1775460"/>
            <a:ext cx="6967855" cy="4625975"/>
          </a:xfrm>
          <a:prstGeom prst="rect">
            <a:avLst/>
          </a:prstGeom>
        </p:spPr>
        <p:txBody>
          <a:bodyPr>
            <a:noAutofit/>
          </a:bodyPr>
          <a:lstStyle/>
          <a:p>
            <a:pPr>
              <a:spcAft>
                <a:spcPct val="0"/>
              </a:spcAft>
            </a:pPr>
            <a:r>
              <a:rPr lang="vi-VN" sz="2400" b="1"/>
              <a:t>b</a:t>
            </a:r>
            <a:r>
              <a:rPr sz="2400" b="1"/>
              <a:t>) Theo dung lượng và phạm vi sử dụng</a:t>
            </a:r>
          </a:p>
          <a:p>
            <a:pPr>
              <a:spcAft>
                <a:spcPct val="0"/>
              </a:spcAft>
            </a:pPr>
            <a:endParaRPr sz="2400" b="1"/>
          </a:p>
          <a:p>
            <a:pPr>
              <a:buFont typeface="Arial" panose="020B0604020202020204"/>
              <a:buChar char="•"/>
            </a:pPr>
            <a:r>
              <a:rPr sz="2400"/>
              <a:t>Pin nhỏ (20 – 40 kWh): cho xe cỡ nhỏ, di chuyển trong thành phố.</a:t>
            </a:r>
          </a:p>
          <a:p>
            <a:pPr>
              <a:buFont typeface="Arial" panose="020B0604020202020204"/>
              <a:buChar char="•"/>
            </a:pPr>
            <a:endParaRPr sz="2400"/>
          </a:p>
          <a:p>
            <a:pPr>
              <a:buFont typeface="Arial" panose="020B0604020202020204"/>
              <a:buChar char="•"/>
            </a:pPr>
            <a:r>
              <a:rPr sz="2400"/>
              <a:t>Pin trung bình (40 – 80 kWh): phổ biến ở sedan, SUV tầm trung.</a:t>
            </a:r>
          </a:p>
          <a:p>
            <a:pPr>
              <a:buFont typeface="Arial" panose="020B0604020202020204"/>
              <a:buChar char="•"/>
            </a:pPr>
            <a:endParaRPr sz="2400"/>
          </a:p>
          <a:p>
            <a:pPr>
              <a:buFont typeface="Arial" panose="020B0604020202020204"/>
              <a:buChar char="•"/>
            </a:pPr>
            <a:r>
              <a:rPr sz="2400"/>
              <a:t>Pin lớn (&gt;100 kWh): dùng cho xe cao cấp, xe tải điện, cho quãng đường dài.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Phân loại pin xe điện và sạc xe điện</a:t>
            </a:r>
            <a:endParaRPr lang="en-US"/>
          </a:p>
        </p:txBody>
      </p:sp>
      <p:sp>
        <p:nvSpPr>
          <p:cNvPr id="3" name="Text Box 2"/>
          <p:cNvSpPr txBox="1"/>
          <p:nvPr/>
        </p:nvSpPr>
        <p:spPr>
          <a:xfrm>
            <a:off x="893445" y="1728470"/>
            <a:ext cx="7742555" cy="5439410"/>
          </a:xfrm>
          <a:prstGeom prst="rect">
            <a:avLst/>
          </a:prstGeom>
        </p:spPr>
        <p:txBody>
          <a:bodyPr>
            <a:noAutofit/>
          </a:bodyPr>
          <a:lstStyle/>
          <a:p>
            <a:pPr>
              <a:spcAft>
                <a:spcPct val="0"/>
              </a:spcAft>
            </a:pPr>
            <a:r>
              <a:rPr b="1"/>
              <a:t>2. Phân loại hệ thống sạc xe điện</a:t>
            </a:r>
          </a:p>
          <a:p>
            <a:pPr>
              <a:spcAft>
                <a:spcPct val="0"/>
              </a:spcAft>
            </a:pPr>
            <a:r>
              <a:rPr b="1"/>
              <a:t>a) Theo loại dòng điện</a:t>
            </a:r>
          </a:p>
          <a:p>
            <a:pPr>
              <a:spcAft>
                <a:spcPct val="0"/>
              </a:spcAft>
            </a:pPr>
            <a:endParaRPr b="1"/>
          </a:p>
          <a:p>
            <a:pPr>
              <a:buFont typeface="Arial" panose="020B0604020202020204"/>
              <a:buChar char="•"/>
            </a:pPr>
            <a:r>
              <a:t>Sạc AC (xoay chiều):</a:t>
            </a:r>
          </a:p>
          <a:p>
            <a:pPr>
              <a:buFont typeface="Arial" panose="020B0604020202020204"/>
              <a:buChar char="•"/>
            </a:pPr>
            <a:endParaRPr/>
          </a:p>
          <a:p>
            <a:pPr lvl="1">
              <a:buFont typeface="Arial" panose="020B0604020202020204"/>
              <a:buChar char="◦"/>
            </a:pPr>
            <a:r>
              <a:t>Sạc chậm (công suất 2 – 22 kW).</a:t>
            </a:r>
          </a:p>
          <a:p>
            <a:pPr lvl="1">
              <a:buFont typeface="Arial" panose="020B0604020202020204"/>
              <a:buChar char="◦"/>
            </a:pPr>
            <a:endParaRPr/>
          </a:p>
          <a:p>
            <a:pPr lvl="1">
              <a:buFont typeface="Arial" panose="020B0604020202020204"/>
              <a:buChar char="◦"/>
            </a:pPr>
            <a:r>
              <a:t>Dùng điện lưới gia đình hoặc bãi đỗ xe.</a:t>
            </a:r>
          </a:p>
          <a:p>
            <a:pPr lvl="1">
              <a:buFont typeface="Arial" panose="020B0604020202020204"/>
              <a:buChar char="◦"/>
            </a:pPr>
            <a:endParaRPr/>
          </a:p>
          <a:p>
            <a:pPr lvl="1">
              <a:buFont typeface="Arial" panose="020B0604020202020204"/>
              <a:buChar char="◦"/>
            </a:pPr>
            <a:r>
              <a:t>Thời gian sạc: 6 – 10 giờ.</a:t>
            </a:r>
          </a:p>
          <a:p>
            <a:pPr lvl="1">
              <a:buFont typeface="Arial" panose="020B0604020202020204"/>
              <a:buChar char="◦"/>
            </a:pPr>
            <a:endParaRPr/>
          </a:p>
          <a:p>
            <a:pPr>
              <a:buFont typeface="Arial" panose="020B0604020202020204"/>
              <a:buChar char="•"/>
            </a:pPr>
            <a:r>
              <a:t>Sạc DC (một chiều):</a:t>
            </a:r>
          </a:p>
          <a:p>
            <a:pPr>
              <a:buFont typeface="Arial" panose="020B0604020202020204"/>
              <a:buChar char="•"/>
            </a:pPr>
            <a:endParaRPr/>
          </a:p>
          <a:p>
            <a:pPr lvl="1">
              <a:buFont typeface="Arial" panose="020B0604020202020204"/>
              <a:buChar char="◦"/>
            </a:pPr>
            <a:r>
              <a:t>Sạc nhanh (công suất 50 – 350 kW).</a:t>
            </a:r>
          </a:p>
          <a:p>
            <a:pPr lvl="1">
              <a:buFont typeface="Arial" panose="020B0604020202020204"/>
              <a:buChar char="◦"/>
            </a:pPr>
            <a:endParaRPr/>
          </a:p>
          <a:p>
            <a:pPr lvl="1">
              <a:buFont typeface="Arial" panose="020B0604020202020204"/>
              <a:buChar char="◦"/>
            </a:pPr>
            <a:r>
              <a:t>Thường có ở trạm sạc công cộng.</a:t>
            </a:r>
          </a:p>
          <a:p>
            <a:pPr lvl="1">
              <a:buFont typeface="Arial" panose="020B0604020202020204"/>
              <a:buChar char="◦"/>
            </a:pPr>
            <a:endParaRPr/>
          </a:p>
          <a:p>
            <a:pPr lvl="1">
              <a:buFont typeface="Arial" panose="020B0604020202020204"/>
              <a:buChar char="◦"/>
            </a:pPr>
            <a:r>
              <a:t>Thời gian sạc: 20 – 60 phút (tùy dung lượng pin).</a:t>
            </a:r>
          </a:p>
          <a:p>
            <a:pPr>
              <a:spcAft>
                <a:spcPct val="0"/>
              </a:spcAft>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Phân loại pin xe điện và sạc xe điện</a:t>
            </a:r>
            <a:endParaRPr lang="en-US"/>
          </a:p>
        </p:txBody>
      </p:sp>
      <p:sp>
        <p:nvSpPr>
          <p:cNvPr id="3" name="Text Box 2"/>
          <p:cNvSpPr txBox="1"/>
          <p:nvPr/>
        </p:nvSpPr>
        <p:spPr>
          <a:xfrm>
            <a:off x="609600" y="1948180"/>
            <a:ext cx="6096000" cy="3780790"/>
          </a:xfrm>
          <a:prstGeom prst="rect">
            <a:avLst/>
          </a:prstGeom>
          <a:noFill/>
        </p:spPr>
        <p:txBody>
          <a:bodyPr wrap="square" rtlCol="0" anchor="t">
            <a:noAutofit/>
          </a:bodyPr>
          <a:lstStyle/>
          <a:p>
            <a:pPr>
              <a:spcAft>
                <a:spcPct val="0"/>
              </a:spcAft>
            </a:pPr>
            <a:r>
              <a:rPr sz="2200" b="1">
                <a:sym typeface="+mn-ea"/>
              </a:rPr>
              <a:t>b</a:t>
            </a:r>
            <a:r>
              <a:rPr sz="2000" b="1">
                <a:sym typeface="+mn-ea"/>
              </a:rPr>
              <a:t>) Theo tốc độ sạ</a:t>
            </a:r>
            <a:r>
              <a:rPr lang="vi-VN" sz="2000" b="1">
                <a:sym typeface="+mn-ea"/>
              </a:rPr>
              <a:t>:</a:t>
            </a:r>
            <a:endParaRPr sz="2000" b="1"/>
          </a:p>
          <a:p>
            <a:pPr>
              <a:buFont typeface="Arial" panose="020B0604020202020204"/>
              <a:buChar char="•"/>
            </a:pPr>
            <a:r>
              <a:rPr sz="2000">
                <a:sym typeface="+mn-ea"/>
              </a:rPr>
              <a:t>Sạc chậm (Slow Charging): 6 – 12 giờ.</a:t>
            </a:r>
            <a:endParaRPr sz="2000"/>
          </a:p>
          <a:p>
            <a:pPr>
              <a:buFont typeface="Arial" panose="020B0604020202020204"/>
              <a:buChar char="•"/>
            </a:pPr>
            <a:endParaRPr sz="2000"/>
          </a:p>
          <a:p>
            <a:pPr>
              <a:buFont typeface="Arial" panose="020B0604020202020204"/>
              <a:buChar char="•"/>
            </a:pPr>
            <a:r>
              <a:rPr sz="2000">
                <a:sym typeface="+mn-ea"/>
              </a:rPr>
              <a:t>Sạc nhanh (Fast Charging): 1 – 3 giờ.</a:t>
            </a:r>
            <a:endParaRPr sz="2000"/>
          </a:p>
          <a:p>
            <a:pPr>
              <a:buFont typeface="Arial" panose="020B0604020202020204"/>
              <a:buChar char="•"/>
            </a:pPr>
            <a:endParaRPr sz="2000"/>
          </a:p>
          <a:p>
            <a:pPr>
              <a:buFont typeface="Arial" panose="020B0604020202020204"/>
              <a:buChar char="•"/>
            </a:pPr>
            <a:r>
              <a:rPr sz="2000">
                <a:sym typeface="+mn-ea"/>
              </a:rPr>
              <a:t>Sạc siêu nhanh (Ultra-Fast Charging): &lt; 30 phút.</a:t>
            </a:r>
          </a:p>
          <a:p>
            <a:pPr>
              <a:buFont typeface="Arial" panose="020B0604020202020204"/>
              <a:buChar char="•"/>
            </a:pPr>
            <a:endParaRPr sz="2000">
              <a:sym typeface="+mn-ea"/>
            </a:endParaRPr>
          </a:p>
          <a:p>
            <a:pPr indent="0">
              <a:buFont typeface="Arial" panose="020B0604020202020204"/>
              <a:buNone/>
            </a:pPr>
            <a:r>
              <a:rPr lang="en-US" altLang="en-US" sz="2000" b="1">
                <a:sym typeface="+mn-ea"/>
              </a:rPr>
              <a:t>c) Theo công nghệ mới</a:t>
            </a:r>
            <a:r>
              <a:rPr lang="vi-VN" altLang="en-US" sz="2000" b="1">
                <a:sym typeface="+mn-ea"/>
              </a:rPr>
              <a:t>:</a:t>
            </a:r>
            <a:endParaRPr lang="en-US" altLang="en-US" sz="2000">
              <a:sym typeface="+mn-ea"/>
            </a:endParaRPr>
          </a:p>
          <a:p>
            <a:pPr>
              <a:buFont typeface="Arial" panose="020B0604020202020204"/>
              <a:buChar char="•"/>
            </a:pPr>
            <a:r>
              <a:rPr lang="en-US" altLang="en-US" sz="2000">
                <a:sym typeface="+mn-ea"/>
              </a:rPr>
              <a:t>Sạc không dây (Wireless Charging): sạc qua cảm ứng </a:t>
            </a:r>
            <a:r>
              <a:rPr lang="" altLang="en-US" sz="2000">
                <a:sym typeface="+mn-ea"/>
              </a:rPr>
              <a:t>đ</a:t>
            </a:r>
            <a:r>
              <a:rPr lang="en-US" altLang="en-US" sz="2000">
                <a:sym typeface="+mn-ea"/>
              </a:rPr>
              <a:t>iện từ, tiện lợi nh</a:t>
            </a:r>
            <a:r>
              <a:rPr lang="" altLang="en-US" sz="2000">
                <a:sym typeface="+mn-ea"/>
              </a:rPr>
              <a:t>ư</a:t>
            </a:r>
            <a:r>
              <a:rPr lang="en-US" altLang="en-US" sz="2000">
                <a:sym typeface="+mn-ea"/>
              </a:rPr>
              <a:t>ng hiệu suất ch</a:t>
            </a:r>
            <a:r>
              <a:rPr lang="" altLang="en-US" sz="2000">
                <a:sym typeface="+mn-ea"/>
              </a:rPr>
              <a:t>ư</a:t>
            </a:r>
            <a:r>
              <a:rPr lang="en-US" altLang="en-US" sz="2000">
                <a:sym typeface="+mn-ea"/>
              </a:rPr>
              <a:t>a cao.</a:t>
            </a:r>
          </a:p>
          <a:p>
            <a:pPr>
              <a:buFont typeface="Arial" panose="020B0604020202020204"/>
              <a:buChar char="•"/>
            </a:pPr>
            <a:endParaRPr lang="en-US" altLang="en-US" sz="2000">
              <a:sym typeface="+mn-ea"/>
            </a:endParaRPr>
          </a:p>
          <a:p>
            <a:pPr>
              <a:buFont typeface="Arial" panose="020B0604020202020204"/>
              <a:buChar char="•"/>
            </a:pPr>
            <a:r>
              <a:rPr lang="en-US" altLang="en-US" sz="2000">
                <a:sym typeface="+mn-ea"/>
              </a:rPr>
              <a:t>Sạc hai chiều (V2G – Vehicle to Grid): xe không chỉ nhận </a:t>
            </a:r>
            <a:r>
              <a:rPr lang="" altLang="en-US" sz="2000">
                <a:sym typeface="+mn-ea"/>
              </a:rPr>
              <a:t>đ</a:t>
            </a:r>
            <a:r>
              <a:rPr lang="en-US" altLang="en-US" sz="2000">
                <a:sym typeface="+mn-ea"/>
              </a:rPr>
              <a:t>iện mà còn có thể cấp ng</a:t>
            </a:r>
            <a:r>
              <a:rPr lang="" altLang="en-US" sz="2000">
                <a:sym typeface="+mn-ea"/>
              </a:rPr>
              <a:t>ư</a:t>
            </a:r>
            <a:r>
              <a:rPr lang="en-US" altLang="en-US" sz="2000">
                <a:sym typeface="+mn-ea"/>
              </a:rPr>
              <a:t>ợc </a:t>
            </a:r>
            <a:r>
              <a:rPr lang="" altLang="en-US" sz="2000">
                <a:sym typeface="+mn-ea"/>
              </a:rPr>
              <a:t>đ</a:t>
            </a:r>
            <a:r>
              <a:rPr lang="en-US" altLang="en-US" sz="2000">
                <a:sym typeface="+mn-ea"/>
              </a:rPr>
              <a:t>iện về l</a:t>
            </a:r>
            <a:r>
              <a:rPr lang="" altLang="en-US" sz="2000">
                <a:sym typeface="+mn-ea"/>
              </a:rPr>
              <a:t>ư</a:t>
            </a:r>
            <a:r>
              <a:rPr lang="en-US" altLang="en-US" sz="2000">
                <a:sym typeface="+mn-ea"/>
              </a:rPr>
              <a:t>ới khi cần.</a:t>
            </a:r>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1088</Words>
  <Application>Microsoft Office PowerPoint</Application>
  <PresentationFormat>Widescreen</PresentationFormat>
  <Paragraphs>150</Paragraphs>
  <Slides>11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Business Cooperate</vt:lpstr>
      <vt:lpstr>Tổng Kết Chương 2</vt:lpstr>
      <vt:lpstr>Hệ thống sạc pin cho xe oto điện</vt:lpstr>
      <vt:lpstr>Hệ thống sạc pin cho xe oto điện</vt:lpstr>
      <vt:lpstr>Hệ thống sạc pin cho xe oto điện</vt:lpstr>
      <vt:lpstr>Giới thiệu chung về Pin xe oto điện</vt:lpstr>
      <vt:lpstr>Giới thiệu chung về Pin xe oto điện</vt:lpstr>
      <vt:lpstr>Phân loại pin xe điện và sạc xe điện</vt:lpstr>
      <vt:lpstr>Phân loại pin xe điện và sạc xe điện</vt:lpstr>
      <vt:lpstr>Phân loại pin xe điện và sạc xe điện</vt:lpstr>
      <vt:lpstr>Phân loại pin xe điện và sạc xe điện</vt:lpstr>
      <vt:lpstr>Phân loại pin xe điện và sạc xe điện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nguyentien2005bg@gmail.com</cp:lastModifiedBy>
  <cp:revision>5</cp:revision>
  <dcterms:created xsi:type="dcterms:W3CDTF">2025-07-23T00:59:00Z</dcterms:created>
  <dcterms:modified xsi:type="dcterms:W3CDTF">2025-12-16T05:52:00Z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81E8EE7C517640A7B2ECE89D644028F8_11</vt:lpwstr>
  </property>
  <property fmtid="{D5CDD505-2E9C-101B-9397-08002B2CF9AE}" pid="3" name="KSOProductBuildVer">
    <vt:lpwstr>1033-12.2.0.22549</vt:lpwstr>
  </property>
</Properties>
</file>