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82" d="100"/>
          <a:sy n="82" d="100"/>
        </p:scale>
        <p:origin x="725"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1CB9063C-D707-4F95-A1A4-C8E24F8C2A7C}" type="datetimeFigureOut">
              <a:rPr lang="en-US" smtClean="0"/>
              <a:t>12/16/2025</a:t>
            </a:fld>
            <a:endParaRPr lang="en-US"/>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74B599C9-97E4-45C3-A116-CA91364391D7}" type="slidenum">
              <a:rPr lang="en-US" smtClean="0"/>
              <a:t>‹#›</a:t>
            </a:fld>
            <a:endParaRPr lang="en-US"/>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81331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B9063C-D707-4F95-A1A4-C8E24F8C2A7C}"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3387227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B9063C-D707-4F95-A1A4-C8E24F8C2A7C}"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1683086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B9063C-D707-4F95-A1A4-C8E24F8C2A7C}"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155307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B9063C-D707-4F95-A1A4-C8E24F8C2A7C}"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2143287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B9063C-D707-4F95-A1A4-C8E24F8C2A7C}"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1514308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B9063C-D707-4F95-A1A4-C8E24F8C2A7C}"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3086639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B9063C-D707-4F95-A1A4-C8E24F8C2A7C}"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4230249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B9063C-D707-4F95-A1A4-C8E24F8C2A7C}"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3309718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B9063C-D707-4F95-A1A4-C8E24F8C2A7C}"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734077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B9063C-D707-4F95-A1A4-C8E24F8C2A7C}"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34306569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B9063C-D707-4F95-A1A4-C8E24F8C2A7C}"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599C9-97E4-45C3-A116-CA91364391D7}" type="slidenum">
              <a:rPr lang="en-US" smtClean="0"/>
              <a:t>‹#›</a:t>
            </a:fld>
            <a:endParaRPr lang="en-US"/>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00342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B9063C-D707-4F95-A1A4-C8E24F8C2A7C}"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2924129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B9063C-D707-4F95-A1A4-C8E24F8C2A7C}"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2945323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B9063C-D707-4F95-A1A4-C8E24F8C2A7C}"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37543186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B9063C-D707-4F95-A1A4-C8E24F8C2A7C}"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8923834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B9063C-D707-4F95-A1A4-C8E24F8C2A7C}"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599C9-97E4-45C3-A116-CA91364391D7}" type="slidenum">
              <a:rPr lang="en-US" smtClean="0"/>
              <a:t>‹#›</a:t>
            </a:fld>
            <a:endParaRPr lang="en-US"/>
          </a:p>
        </p:txBody>
      </p:sp>
    </p:spTree>
    <p:extLst>
      <p:ext uri="{BB962C8B-B14F-4D97-AF65-F5344CB8AC3E}">
        <p14:creationId xmlns:p14="http://schemas.microsoft.com/office/powerpoint/2010/main" val="667790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1CB9063C-D707-4F95-A1A4-C8E24F8C2A7C}" type="datetimeFigureOut">
              <a:rPr lang="en-US" smtClean="0"/>
              <a:t>12/16/2025</a:t>
            </a:fld>
            <a:endParaRPr lang="en-US"/>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74B599C9-97E4-45C3-A116-CA91364391D7}" type="slidenum">
              <a:rPr lang="en-US" smtClean="0"/>
              <a:t>‹#›</a:t>
            </a:fld>
            <a:endParaRPr lang="en-US"/>
          </a:p>
        </p:txBody>
      </p:sp>
    </p:spTree>
    <p:extLst>
      <p:ext uri="{BB962C8B-B14F-4D97-AF65-F5344CB8AC3E}">
        <p14:creationId xmlns:p14="http://schemas.microsoft.com/office/powerpoint/2010/main" val="11130106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47BDC0-96D1-78FF-C37A-178BD87FE48B}"/>
              </a:ext>
            </a:extLst>
          </p:cNvPr>
          <p:cNvSpPr>
            <a:spLocks noGrp="1"/>
          </p:cNvSpPr>
          <p:nvPr>
            <p:ph type="title"/>
          </p:nvPr>
        </p:nvSpPr>
        <p:spPr/>
        <p:txBody>
          <a:bodyPr>
            <a:normAutofit fontScale="90000"/>
          </a:bodyPr>
          <a:lstStyle/>
          <a:p>
            <a:r>
              <a:rPr lang="vi-VN" dirty="0"/>
              <a:t>CHƯƠNG 2 : Hệ thống sạc pin cho xe điện</a:t>
            </a:r>
            <a:endParaRPr lang="en-US" dirty="0"/>
          </a:p>
        </p:txBody>
      </p:sp>
      <p:sp>
        <p:nvSpPr>
          <p:cNvPr id="5" name="Rectangle 4">
            <a:extLst>
              <a:ext uri="{FF2B5EF4-FFF2-40B4-BE49-F238E27FC236}">
                <a16:creationId xmlns:a16="http://schemas.microsoft.com/office/drawing/2014/main" id="{6E69BEE5-9733-F586-2741-98E23ED3DBE3}"/>
              </a:ext>
            </a:extLst>
          </p:cNvPr>
          <p:cNvSpPr/>
          <p:nvPr/>
        </p:nvSpPr>
        <p:spPr>
          <a:xfrm>
            <a:off x="7310535" y="4413380"/>
            <a:ext cx="3713583" cy="8070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vi-VN" sz="3200" dirty="0"/>
              <a:t>Đỗ Trọng Tuấn</a:t>
            </a:r>
          </a:p>
        </p:txBody>
      </p:sp>
    </p:spTree>
    <p:extLst>
      <p:ext uri="{BB962C8B-B14F-4D97-AF65-F5344CB8AC3E}">
        <p14:creationId xmlns:p14="http://schemas.microsoft.com/office/powerpoint/2010/main" val="1537191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CF554-27B9-1ECC-A51B-1C9F09C499BC}"/>
              </a:ext>
            </a:extLst>
          </p:cNvPr>
          <p:cNvSpPr>
            <a:spLocks noGrp="1"/>
          </p:cNvSpPr>
          <p:nvPr>
            <p:ph type="title" idx="4294967295"/>
          </p:nvPr>
        </p:nvSpPr>
        <p:spPr>
          <a:xfrm>
            <a:off x="0" y="0"/>
            <a:ext cx="5803641" cy="560388"/>
          </a:xfrm>
        </p:spPr>
        <p:txBody>
          <a:bodyPr>
            <a:noAutofit/>
          </a:bodyPr>
          <a:lstStyle/>
          <a:p>
            <a:pPr>
              <a:spcAft>
                <a:spcPct val="0"/>
              </a:spcAft>
            </a:pPr>
            <a:r>
              <a:rPr lang="en-US" sz="2000" b="1" dirty="0" err="1">
                <a:latin typeface="Times New Roman" panose="02020603050405020304" pitchFamily="18" charset="0"/>
                <a:cs typeface="Times New Roman" panose="02020603050405020304" pitchFamily="18" charset="0"/>
              </a:rPr>
              <a:t>Giới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thiệu</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chung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về</a:t>
            </a:r>
            <a:r>
              <a:rPr lang="en-US" sz="2000" b="1" dirty="0">
                <a:latin typeface="Times New Roman" panose="02020603050405020304" pitchFamily="18" charset="0"/>
                <a:cs typeface="Times New Roman" panose="02020603050405020304" pitchFamily="18" charset="0"/>
              </a:rPr>
              <a:t> Pin </a:t>
            </a:r>
            <a:r>
              <a:rPr lang="en-US" sz="2000" b="1" dirty="0" err="1">
                <a:latin typeface="Times New Roman" panose="02020603050405020304" pitchFamily="18" charset="0"/>
                <a:cs typeface="Times New Roman" panose="02020603050405020304" pitchFamily="18" charset="0"/>
              </a:rPr>
              <a:t>trên</a:t>
            </a:r>
            <a:r>
              <a:rPr lang="en-US" sz="2000" b="1" dirty="0">
                <a:latin typeface="Times New Roman" panose="02020603050405020304" pitchFamily="18" charset="0"/>
                <a:cs typeface="Times New Roman" panose="02020603050405020304" pitchFamily="18" charset="0"/>
              </a:rPr>
              <a:t> ô </a:t>
            </a:r>
            <a:r>
              <a:rPr lang="en-US" sz="2000" b="1" dirty="0" err="1">
                <a:latin typeface="Times New Roman" panose="02020603050405020304" pitchFamily="18" charset="0"/>
                <a:cs typeface="Times New Roman" panose="02020603050405020304" pitchFamily="18" charset="0"/>
              </a:rPr>
              <a:t>tô</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điện</a:t>
            </a:r>
            <a:endParaRPr lang="en-US" sz="2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C1F2EFE-EAEB-9572-178A-F4121DED70F4}"/>
              </a:ext>
            </a:extLst>
          </p:cNvPr>
          <p:cNvSpPr txBox="1"/>
          <p:nvPr/>
        </p:nvSpPr>
        <p:spPr>
          <a:xfrm>
            <a:off x="81643" y="516303"/>
            <a:ext cx="6134876" cy="5078313"/>
          </a:xfrm>
          <a:prstGeom prst="rect">
            <a:avLst/>
          </a:prstGeom>
          <a:noFill/>
        </p:spPr>
        <p:txBody>
          <a:bodyPr wrap="square">
            <a:spAutoFit/>
          </a:bodyPr>
          <a:lstStyle/>
          <a:p>
            <a:pPr>
              <a:buNone/>
            </a:pPr>
            <a:r>
              <a:rPr lang="vi-VN" b="1" dirty="0">
                <a:latin typeface="+mj-lt"/>
              </a:rPr>
              <a:t>Khái niệm pin ô tô điện</a:t>
            </a:r>
          </a:p>
          <a:p>
            <a:pPr>
              <a:buNone/>
            </a:pPr>
            <a:r>
              <a:rPr lang="vi-VN" dirty="0">
                <a:latin typeface="+mj-lt"/>
              </a:rPr>
              <a:t>Pin ô tô điện là </a:t>
            </a:r>
            <a:r>
              <a:rPr lang="vi-VN" b="1" dirty="0">
                <a:latin typeface="+mj-lt"/>
              </a:rPr>
              <a:t>nguồn năng lượng chính</a:t>
            </a:r>
            <a:r>
              <a:rPr lang="vi-VN" dirty="0">
                <a:latin typeface="+mj-lt"/>
              </a:rPr>
              <a:t> cung cấp điện cho động cơ điện và các hệ thống trên xe. Pin lưu trữ điện năng dưới dạng hóa năng và chuyển hóa thành điện năng để xe vận hành.</a:t>
            </a:r>
          </a:p>
          <a:p>
            <a:pPr>
              <a:buNone/>
            </a:pPr>
            <a:r>
              <a:rPr lang="vi-VN" b="1" dirty="0">
                <a:latin typeface="+mj-lt"/>
              </a:rPr>
              <a:t>Vai trò của pin trong ô tô điện</a:t>
            </a:r>
          </a:p>
          <a:p>
            <a:pPr>
              <a:buFont typeface="Arial" panose="020B0604020202020204" pitchFamily="34" charset="0"/>
              <a:buChar char="•"/>
            </a:pPr>
            <a:r>
              <a:rPr lang="vi-VN" dirty="0">
                <a:latin typeface="+mj-lt"/>
              </a:rPr>
              <a:t>Cung cấp điện cho </a:t>
            </a:r>
            <a:r>
              <a:rPr lang="vi-VN" b="1" dirty="0">
                <a:latin typeface="+mj-lt"/>
              </a:rPr>
              <a:t>động cơ điện</a:t>
            </a:r>
            <a:endParaRPr lang="vi-VN" dirty="0">
              <a:latin typeface="+mj-lt"/>
            </a:endParaRPr>
          </a:p>
          <a:p>
            <a:pPr>
              <a:buFont typeface="Arial" panose="020B0604020202020204" pitchFamily="34" charset="0"/>
              <a:buChar char="•"/>
            </a:pPr>
            <a:r>
              <a:rPr lang="vi-VN" dirty="0">
                <a:latin typeface="+mj-lt"/>
              </a:rPr>
              <a:t>Cấp nguồn cho các hệ thống: điều hòa, chiếu sáng, giải trí, ECU</a:t>
            </a:r>
          </a:p>
          <a:p>
            <a:pPr>
              <a:buFont typeface="Arial" panose="020B0604020202020204" pitchFamily="34" charset="0"/>
              <a:buChar char="•"/>
            </a:pPr>
            <a:r>
              <a:rPr lang="vi-VN" dirty="0">
                <a:latin typeface="+mj-lt"/>
              </a:rPr>
              <a:t>Quyết định </a:t>
            </a:r>
            <a:r>
              <a:rPr lang="vi-VN" b="1" dirty="0">
                <a:latin typeface="+mj-lt"/>
              </a:rPr>
              <a:t>quãng đường di chuyển</a:t>
            </a:r>
            <a:r>
              <a:rPr lang="vi-VN" dirty="0">
                <a:latin typeface="+mj-lt"/>
              </a:rPr>
              <a:t>, hiệu suất và chi phí vận hành của xe</a:t>
            </a:r>
          </a:p>
          <a:p>
            <a:r>
              <a:rPr lang="vi-VN" b="1" dirty="0">
                <a:latin typeface="+mj-lt"/>
              </a:rPr>
              <a:t>Cấu tạo cơ bản của pin ô tô điện:</a:t>
            </a:r>
            <a:r>
              <a:rPr lang="vi-VN" dirty="0">
                <a:latin typeface="+mj-lt"/>
              </a:rPr>
              <a:t> gồm nhiều cell pin ghép thành module,sau đó kết hợp thành pack pin để cung cấp điện áp cao (200V-800)</a:t>
            </a:r>
          </a:p>
          <a:p>
            <a:r>
              <a:rPr lang="vi-VN" b="1" dirty="0">
                <a:latin typeface="+mj-lt"/>
              </a:rPr>
              <a:t>Yếu tố ảnh hưởng đến pin</a:t>
            </a:r>
            <a:r>
              <a:rPr lang="vi-VN" dirty="0">
                <a:latin typeface="+mj-lt"/>
              </a:rPr>
              <a:t>:</a:t>
            </a:r>
          </a:p>
          <a:p>
            <a:pPr lvl="1"/>
            <a:r>
              <a:rPr lang="vi-VN" dirty="0">
                <a:latin typeface="+mj-lt"/>
              </a:rPr>
              <a:t>-Nhiệt độ làm việc.</a:t>
            </a:r>
          </a:p>
          <a:p>
            <a:pPr lvl="1"/>
            <a:r>
              <a:rPr lang="vi-VN" dirty="0">
                <a:latin typeface="+mj-lt"/>
              </a:rPr>
              <a:t>-Chu kỳ sạc/xả.</a:t>
            </a:r>
          </a:p>
          <a:p>
            <a:pPr lvl="1"/>
            <a:r>
              <a:rPr lang="vi-VN" dirty="0">
                <a:latin typeface="+mj-lt"/>
              </a:rPr>
              <a:t>-Cách sử dụng (sạc nhanh, xả sâu thường xuyên sẽ giảm tuổi thọ).</a:t>
            </a:r>
          </a:p>
        </p:txBody>
      </p:sp>
      <p:pic>
        <p:nvPicPr>
          <p:cNvPr id="6" name="Picture 5">
            <a:extLst>
              <a:ext uri="{FF2B5EF4-FFF2-40B4-BE49-F238E27FC236}">
                <a16:creationId xmlns:a16="http://schemas.microsoft.com/office/drawing/2014/main" id="{8621346B-6B00-FE9D-2BC0-5F717C614F3F}"/>
              </a:ext>
            </a:extLst>
          </p:cNvPr>
          <p:cNvPicPr>
            <a:picLocks noChangeAspect="1"/>
          </p:cNvPicPr>
          <p:nvPr/>
        </p:nvPicPr>
        <p:blipFill>
          <a:blip r:embed="rId2"/>
          <a:stretch>
            <a:fillRect/>
          </a:stretch>
        </p:blipFill>
        <p:spPr>
          <a:xfrm>
            <a:off x="6967636" y="271977"/>
            <a:ext cx="4457700" cy="1965979"/>
          </a:xfrm>
          <a:prstGeom prst="rect">
            <a:avLst/>
          </a:prstGeom>
        </p:spPr>
      </p:pic>
    </p:spTree>
    <p:extLst>
      <p:ext uri="{BB962C8B-B14F-4D97-AF65-F5344CB8AC3E}">
        <p14:creationId xmlns:p14="http://schemas.microsoft.com/office/powerpoint/2010/main" val="3779585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94163-FD69-2672-6A52-3A5333EEF983}"/>
              </a:ext>
            </a:extLst>
          </p:cNvPr>
          <p:cNvSpPr>
            <a:spLocks noGrp="1"/>
          </p:cNvSpPr>
          <p:nvPr>
            <p:ph type="title"/>
          </p:nvPr>
        </p:nvSpPr>
        <p:spPr>
          <a:xfrm>
            <a:off x="0" y="93306"/>
            <a:ext cx="5962260" cy="541176"/>
          </a:xfrm>
        </p:spPr>
        <p:txBody>
          <a:bodyPr>
            <a:normAutofit fontScale="90000"/>
          </a:bodyPr>
          <a:lstStyle/>
          <a:p>
            <a:r>
              <a:rPr lang="en-US" sz="2000" b="1" dirty="0" err="1">
                <a:latin typeface="Times New Roman" panose="02020603050405020304" pitchFamily="18" charset="0"/>
                <a:cs typeface="Times New Roman" panose="02020603050405020304" pitchFamily="18" charset="0"/>
              </a:rPr>
              <a:t>Giới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thiệu</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chung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về</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hệ</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thống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sạc</a:t>
            </a:r>
            <a:r>
              <a:rPr lang="en-US" sz="2000" b="1" dirty="0">
                <a:latin typeface="Times New Roman" panose="02020603050405020304" pitchFamily="18" charset="0"/>
                <a:cs typeface="Times New Roman" panose="02020603050405020304" pitchFamily="18" charset="0"/>
              </a:rPr>
              <a:t> ô </a:t>
            </a:r>
            <a:r>
              <a:rPr lang="en-US" sz="2000" b="1" dirty="0" err="1">
                <a:latin typeface="Times New Roman" panose="02020603050405020304" pitchFamily="18" charset="0"/>
                <a:cs typeface="Times New Roman" panose="02020603050405020304" pitchFamily="18" charset="0"/>
              </a:rPr>
              <a:t>tô</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điện</a:t>
            </a:r>
            <a:br>
              <a:rPr lang="en-US" sz="2000" b="1"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3DC41FD-F451-5E92-B769-B1B73B0284C0}"/>
              </a:ext>
            </a:extLst>
          </p:cNvPr>
          <p:cNvSpPr txBox="1"/>
          <p:nvPr/>
        </p:nvSpPr>
        <p:spPr>
          <a:xfrm>
            <a:off x="0" y="363894"/>
            <a:ext cx="6134876" cy="5632311"/>
          </a:xfrm>
          <a:prstGeom prst="rect">
            <a:avLst/>
          </a:prstGeom>
          <a:noFill/>
        </p:spPr>
        <p:txBody>
          <a:bodyPr wrap="square">
            <a:spAutoFit/>
          </a:bodyPr>
          <a:lstStyle/>
          <a:p>
            <a:pPr>
              <a:buNone/>
            </a:pPr>
            <a:r>
              <a:rPr lang="vi-VN" b="1" dirty="0">
                <a:latin typeface="Times New Roman" panose="02020603050405020304" pitchFamily="18" charset="0"/>
                <a:cs typeface="Times New Roman" panose="02020603050405020304" pitchFamily="18" charset="0"/>
              </a:rPr>
              <a:t>1. Khái niệm hệ thống sạc ô tô điện</a:t>
            </a:r>
          </a:p>
          <a:p>
            <a:pPr>
              <a:buNone/>
            </a:pPr>
            <a:r>
              <a:rPr lang="vi-VN" dirty="0">
                <a:latin typeface="Times New Roman" panose="02020603050405020304" pitchFamily="18" charset="0"/>
                <a:cs typeface="Times New Roman" panose="02020603050405020304" pitchFamily="18" charset="0"/>
              </a:rPr>
              <a:t>Hệ thống sạc ô tô điện là tập hợp các </a:t>
            </a:r>
            <a:r>
              <a:rPr lang="vi-VN" b="1" dirty="0">
                <a:latin typeface="Times New Roman" panose="02020603050405020304" pitchFamily="18" charset="0"/>
                <a:cs typeface="Times New Roman" panose="02020603050405020304" pitchFamily="18" charset="0"/>
              </a:rPr>
              <a:t>thiết bị và mạch điện</a:t>
            </a:r>
            <a:r>
              <a:rPr lang="vi-VN" dirty="0">
                <a:latin typeface="Times New Roman" panose="02020603050405020304" pitchFamily="18" charset="0"/>
                <a:cs typeface="Times New Roman" panose="02020603050405020304" pitchFamily="18" charset="0"/>
              </a:rPr>
              <a:t> dùng để </a:t>
            </a:r>
            <a:r>
              <a:rPr lang="vi-VN" b="1" dirty="0">
                <a:latin typeface="Times New Roman" panose="02020603050405020304" pitchFamily="18" charset="0"/>
                <a:cs typeface="Times New Roman" panose="02020603050405020304" pitchFamily="18" charset="0"/>
              </a:rPr>
              <a:t>cung cấp và chuyển đổi điện năng</a:t>
            </a:r>
            <a:r>
              <a:rPr lang="vi-VN" dirty="0">
                <a:latin typeface="Times New Roman" panose="02020603050405020304" pitchFamily="18" charset="0"/>
                <a:cs typeface="Times New Roman" panose="02020603050405020304" pitchFamily="18" charset="0"/>
              </a:rPr>
              <a:t> từ nguồn bên ngoài vào pin của xe, đảm bảo quá trình sạc </a:t>
            </a:r>
            <a:r>
              <a:rPr lang="vi-VN" b="1" dirty="0">
                <a:latin typeface="Times New Roman" panose="02020603050405020304" pitchFamily="18" charset="0"/>
                <a:cs typeface="Times New Roman" panose="02020603050405020304" pitchFamily="18" charset="0"/>
              </a:rPr>
              <a:t>an toàn, hiệu quả và ổn định</a:t>
            </a:r>
            <a:r>
              <a:rPr lang="vi-VN" dirty="0">
                <a:latin typeface="Times New Roman" panose="02020603050405020304" pitchFamily="18" charset="0"/>
                <a:cs typeface="Times New Roman" panose="02020603050405020304" pitchFamily="18" charset="0"/>
              </a:rPr>
              <a:t>.</a:t>
            </a:r>
          </a:p>
          <a:p>
            <a:pPr>
              <a:buNone/>
            </a:pPr>
            <a:r>
              <a:rPr lang="vi-VN" b="1" dirty="0">
                <a:latin typeface="Times New Roman" panose="02020603050405020304" pitchFamily="18" charset="0"/>
                <a:cs typeface="Times New Roman" panose="02020603050405020304" pitchFamily="18" charset="0"/>
              </a:rPr>
              <a:t>2. Vai trò của hệ thống sạc</a:t>
            </a:r>
          </a:p>
          <a:p>
            <a:pPr>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Nạp điện cho </a:t>
            </a:r>
            <a:r>
              <a:rPr lang="vi-VN" b="1" dirty="0">
                <a:latin typeface="Times New Roman" panose="02020603050405020304" pitchFamily="18" charset="0"/>
                <a:cs typeface="Times New Roman" panose="02020603050405020304" pitchFamily="18" charset="0"/>
              </a:rPr>
              <a:t>pin traction</a:t>
            </a:r>
            <a:r>
              <a:rPr lang="vi-VN" dirty="0">
                <a:latin typeface="Times New Roman" panose="02020603050405020304" pitchFamily="18" charset="0"/>
                <a:cs typeface="Times New Roman" panose="02020603050405020304" pitchFamily="18" charset="0"/>
              </a:rPr>
              <a:t> của ô tô điện</a:t>
            </a:r>
          </a:p>
          <a:p>
            <a:pPr>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Đảm bảo pin hoạt động đúng thông số kỹ thuật</a:t>
            </a:r>
          </a:p>
          <a:p>
            <a:pPr>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Kéo dài tuổi thọ pin</a:t>
            </a:r>
          </a:p>
          <a:p>
            <a:pPr>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Đảm bảo an toàn cho người và xe trong quá trình sạc</a:t>
            </a:r>
          </a:p>
          <a:p>
            <a:r>
              <a:rPr lang="vi-VN" b="1" dirty="0">
                <a:latin typeface="Times New Roman" panose="02020603050405020304" pitchFamily="18" charset="0"/>
                <a:cs typeface="Times New Roman" panose="02020603050405020304" pitchFamily="18" charset="0"/>
              </a:rPr>
              <a:t>3. Cấu tạo cơ bản của hệ thống sạc ô tô điện</a:t>
            </a:r>
          </a:p>
          <a:p>
            <a:r>
              <a:rPr lang="vi-VN" dirty="0">
                <a:latin typeface="Times New Roman" panose="02020603050405020304" pitchFamily="18" charset="0"/>
                <a:cs typeface="Times New Roman" panose="02020603050405020304" pitchFamily="18" charset="0"/>
              </a:rPr>
              <a:t>Hệ thống sạc thường gồm:</a:t>
            </a:r>
          </a:p>
          <a:p>
            <a:r>
              <a:rPr lang="vi-VN" b="1" dirty="0">
                <a:latin typeface="Times New Roman" panose="02020603050405020304" pitchFamily="18" charset="0"/>
                <a:cs typeface="Times New Roman" panose="02020603050405020304" pitchFamily="18" charset="0"/>
              </a:rPr>
              <a:t>Cổng sạc (Charging Port)</a:t>
            </a:r>
            <a:r>
              <a:rPr lang="vi-VN" dirty="0">
                <a:latin typeface="Times New Roman" panose="02020603050405020304" pitchFamily="18" charset="0"/>
                <a:cs typeface="Times New Roman" panose="02020603050405020304" pitchFamily="18" charset="0"/>
              </a:rPr>
              <a:t>: nơi kết nối xe với trạm sạc</a:t>
            </a:r>
          </a:p>
          <a:p>
            <a:r>
              <a:rPr lang="vi-VN" b="1" dirty="0">
                <a:latin typeface="Times New Roman" panose="02020603050405020304" pitchFamily="18" charset="0"/>
                <a:cs typeface="Times New Roman" panose="02020603050405020304" pitchFamily="18" charset="0"/>
              </a:rPr>
              <a:t>Bộ sạc trên xe (On-board Charger – OBC)</a:t>
            </a:r>
            <a:r>
              <a:rPr lang="vi-VN" dirty="0">
                <a:latin typeface="Times New Roman" panose="02020603050405020304" pitchFamily="18" charset="0"/>
                <a:cs typeface="Times New Roman" panose="02020603050405020304" pitchFamily="18" charset="0"/>
              </a:rPr>
              <a:t>: chuyển đổi AC sang DC</a:t>
            </a:r>
          </a:p>
          <a:p>
            <a:r>
              <a:rPr lang="vi-VN" b="1" dirty="0">
                <a:latin typeface="Times New Roman" panose="02020603050405020304" pitchFamily="18" charset="0"/>
                <a:cs typeface="Times New Roman" panose="02020603050405020304" pitchFamily="18" charset="0"/>
              </a:rPr>
              <a:t>Bộ sạc ngoài (DC Fast Charger)</a:t>
            </a:r>
            <a:r>
              <a:rPr lang="vi-VN" dirty="0">
                <a:latin typeface="Times New Roman" panose="02020603050405020304" pitchFamily="18" charset="0"/>
                <a:cs typeface="Times New Roman" panose="02020603050405020304" pitchFamily="18" charset="0"/>
              </a:rPr>
              <a:t>: sạc nhanh, cấp trực tiếp DC</a:t>
            </a:r>
          </a:p>
          <a:p>
            <a:r>
              <a:rPr lang="vi-VN" b="1" dirty="0">
                <a:latin typeface="Times New Roman" panose="02020603050405020304" pitchFamily="18" charset="0"/>
                <a:cs typeface="Times New Roman" panose="02020603050405020304" pitchFamily="18" charset="0"/>
              </a:rPr>
              <a:t>Pin cao áp</a:t>
            </a:r>
            <a:endParaRPr lang="vi-VN" dirty="0">
              <a:latin typeface="Times New Roman" panose="02020603050405020304" pitchFamily="18" charset="0"/>
              <a:cs typeface="Times New Roman" panose="02020603050405020304" pitchFamily="18" charset="0"/>
            </a:endParaRPr>
          </a:p>
          <a:p>
            <a:r>
              <a:rPr lang="vi-VN" b="1" dirty="0">
                <a:latin typeface="Times New Roman" panose="02020603050405020304" pitchFamily="18" charset="0"/>
                <a:cs typeface="Times New Roman" panose="02020603050405020304" pitchFamily="18" charset="0"/>
              </a:rPr>
              <a:t>Hệ thống quản lý pin (BMS)</a:t>
            </a:r>
            <a:endParaRPr lang="vi-VN" dirty="0">
              <a:latin typeface="Times New Roman" panose="02020603050405020304" pitchFamily="18" charset="0"/>
              <a:cs typeface="Times New Roman" panose="02020603050405020304" pitchFamily="18" charset="0"/>
            </a:endParaRPr>
          </a:p>
          <a:p>
            <a:r>
              <a:rPr lang="vi-VN" b="1" dirty="0">
                <a:latin typeface="Times New Roman" panose="02020603050405020304" pitchFamily="18" charset="0"/>
                <a:cs typeface="Times New Roman" panose="02020603050405020304" pitchFamily="18" charset="0"/>
              </a:rPr>
              <a:t>Hệ thống làm mát và bảo vệ</a:t>
            </a:r>
            <a:endParaRPr lang="vi-VN" dirty="0">
              <a:latin typeface="Times New Roman" panose="02020603050405020304" pitchFamily="18" charset="0"/>
              <a:cs typeface="Times New Roman" panose="02020603050405020304" pitchFamily="18" charset="0"/>
            </a:endParaRPr>
          </a:p>
          <a:p>
            <a:endParaRPr lang="vi-V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FCEE2E9-2DA0-8680-A614-987F16D814E6}"/>
              </a:ext>
            </a:extLst>
          </p:cNvPr>
          <p:cNvPicPr>
            <a:picLocks noChangeAspect="1"/>
          </p:cNvPicPr>
          <p:nvPr/>
        </p:nvPicPr>
        <p:blipFill>
          <a:blip r:embed="rId2"/>
          <a:stretch>
            <a:fillRect/>
          </a:stretch>
        </p:blipFill>
        <p:spPr>
          <a:xfrm>
            <a:off x="6192448" y="363894"/>
            <a:ext cx="5176904" cy="3115238"/>
          </a:xfrm>
          <a:prstGeom prst="rect">
            <a:avLst/>
          </a:prstGeom>
        </p:spPr>
      </p:pic>
    </p:spTree>
    <p:extLst>
      <p:ext uri="{BB962C8B-B14F-4D97-AF65-F5344CB8AC3E}">
        <p14:creationId xmlns:p14="http://schemas.microsoft.com/office/powerpoint/2010/main" val="3458691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1F78E-D8C6-C3E0-BF73-BB8EAD94C98D}"/>
              </a:ext>
            </a:extLst>
          </p:cNvPr>
          <p:cNvSpPr>
            <a:spLocks noGrp="1"/>
          </p:cNvSpPr>
          <p:nvPr>
            <p:ph type="title"/>
          </p:nvPr>
        </p:nvSpPr>
        <p:spPr>
          <a:xfrm>
            <a:off x="74646" y="93307"/>
            <a:ext cx="9335277" cy="522514"/>
          </a:xfrm>
        </p:spPr>
        <p:txBody>
          <a:bodyPr>
            <a:normAutofit/>
          </a:bodyPr>
          <a:lstStyle/>
          <a:p>
            <a:r>
              <a:rPr lang="en-US" sz="2400" b="1" dirty="0" err="1">
                <a:latin typeface="Times New Roman" panose="02020603050405020304" pitchFamily="18" charset="0"/>
                <a:cs typeface="Times New Roman" panose="02020603050405020304" pitchFamily="18" charset="0"/>
              </a:rPr>
              <a:t>Giới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thiệu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chung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hệ</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thống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sạc</a:t>
            </a:r>
            <a:r>
              <a:rPr lang="en-US" sz="2400" b="1" dirty="0">
                <a:latin typeface="Times New Roman" panose="02020603050405020304" pitchFamily="18" charset="0"/>
                <a:cs typeface="Times New Roman" panose="02020603050405020304" pitchFamily="18" charset="0"/>
              </a:rPr>
              <a:t> ô </a:t>
            </a:r>
            <a:r>
              <a:rPr lang="en-US" sz="2400" b="1" dirty="0" err="1">
                <a:latin typeface="Times New Roman" panose="02020603050405020304" pitchFamily="18" charset="0"/>
                <a:cs typeface="Times New Roman" panose="02020603050405020304" pitchFamily="18" charset="0"/>
              </a:rPr>
              <a:t>tô</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điện</a:t>
            </a:r>
            <a:endParaRPr lang="en-US" sz="2400" dirty="0"/>
          </a:p>
        </p:txBody>
      </p:sp>
      <p:sp>
        <p:nvSpPr>
          <p:cNvPr id="4" name="TextBox 3">
            <a:extLst>
              <a:ext uri="{FF2B5EF4-FFF2-40B4-BE49-F238E27FC236}">
                <a16:creationId xmlns:a16="http://schemas.microsoft.com/office/drawing/2014/main" id="{99FE8CBF-93B3-94AF-BAFA-30B0495BB3DF}"/>
              </a:ext>
            </a:extLst>
          </p:cNvPr>
          <p:cNvSpPr txBox="1"/>
          <p:nvPr/>
        </p:nvSpPr>
        <p:spPr>
          <a:xfrm>
            <a:off x="118966" y="488627"/>
            <a:ext cx="6134876" cy="4524315"/>
          </a:xfrm>
          <a:prstGeom prst="rect">
            <a:avLst/>
          </a:prstGeom>
          <a:noFill/>
        </p:spPr>
        <p:txBody>
          <a:bodyPr wrap="square">
            <a:spAutoFit/>
          </a:bodyPr>
          <a:lstStyle/>
          <a:p>
            <a:pPr>
              <a:buNone/>
            </a:pPr>
            <a:r>
              <a:rPr lang="vi-VN" b="1" dirty="0">
                <a:latin typeface="+mj-lt"/>
              </a:rPr>
              <a:t>4. Nguyên lý hoạt động</a:t>
            </a:r>
          </a:p>
          <a:p>
            <a:pPr>
              <a:buFont typeface="+mj-lt"/>
              <a:buAutoNum type="arabicPeriod"/>
            </a:pPr>
            <a:r>
              <a:rPr lang="vi-VN" dirty="0">
                <a:latin typeface="+mj-lt"/>
              </a:rPr>
              <a:t>Xe kết nối với nguồn điện hoặc trạm sạc</a:t>
            </a:r>
          </a:p>
          <a:p>
            <a:pPr>
              <a:buFont typeface="+mj-lt"/>
              <a:buAutoNum type="arabicPeriod"/>
            </a:pPr>
            <a:r>
              <a:rPr lang="vi-VN" dirty="0">
                <a:latin typeface="+mj-lt"/>
              </a:rPr>
              <a:t>Dòng điện được truyền qua cổng sạc</a:t>
            </a:r>
          </a:p>
          <a:p>
            <a:pPr>
              <a:buFont typeface="+mj-lt"/>
              <a:buAutoNum type="arabicPeriod"/>
            </a:pPr>
            <a:r>
              <a:rPr lang="vi-VN" dirty="0">
                <a:latin typeface="+mj-lt"/>
              </a:rPr>
              <a:t>OBC hoặc trạm sạc chuyển đổi và điều chỉnh điện áp – dòng điện</a:t>
            </a:r>
          </a:p>
          <a:p>
            <a:pPr>
              <a:buFont typeface="+mj-lt"/>
              <a:buAutoNum type="arabicPeriod"/>
            </a:pPr>
            <a:r>
              <a:rPr lang="vi-VN" dirty="0">
                <a:latin typeface="+mj-lt"/>
              </a:rPr>
              <a:t>BMS giám sát nhiệt độ, điện áp từng cell</a:t>
            </a:r>
          </a:p>
          <a:p>
            <a:pPr>
              <a:buFont typeface="+mj-lt"/>
              <a:buAutoNum type="arabicPeriod"/>
            </a:pPr>
            <a:r>
              <a:rPr lang="vi-VN" dirty="0">
                <a:latin typeface="+mj-lt"/>
              </a:rPr>
              <a:t>Pin được sạc đến mức cho phép và tự ngắt khi đầy</a:t>
            </a:r>
          </a:p>
          <a:p>
            <a:pPr>
              <a:buNone/>
            </a:pPr>
            <a:r>
              <a:rPr lang="vi-VN" b="1" dirty="0">
                <a:latin typeface="+mj-lt"/>
              </a:rPr>
              <a:t>5. Các chế độ và cấp độ sạc</a:t>
            </a:r>
          </a:p>
          <a:p>
            <a:pPr>
              <a:buNone/>
            </a:pPr>
            <a:r>
              <a:rPr lang="en-US" b="1" dirty="0">
                <a:latin typeface="+mj-lt"/>
              </a:rPr>
              <a:t>🔹 </a:t>
            </a:r>
            <a:r>
              <a:rPr lang="vi-VN" b="1" dirty="0">
                <a:latin typeface="+mj-lt"/>
              </a:rPr>
              <a:t>Sạc AC (chậm – trung bình)</a:t>
            </a:r>
          </a:p>
          <a:p>
            <a:pPr>
              <a:buFont typeface="Arial" panose="020B0604020202020204" pitchFamily="34" charset="0"/>
              <a:buChar char="•"/>
            </a:pPr>
            <a:r>
              <a:rPr lang="vi-VN" dirty="0">
                <a:latin typeface="+mj-lt"/>
              </a:rPr>
              <a:t>Dùng điện xoay chiều</a:t>
            </a:r>
          </a:p>
          <a:p>
            <a:pPr>
              <a:buFont typeface="Arial" panose="020B0604020202020204" pitchFamily="34" charset="0"/>
              <a:buChar char="•"/>
            </a:pPr>
            <a:r>
              <a:rPr lang="vi-VN" dirty="0">
                <a:latin typeface="+mj-lt"/>
              </a:rPr>
              <a:t>Thời gian sạc: </a:t>
            </a:r>
            <a:r>
              <a:rPr lang="vi-VN" b="1" dirty="0">
                <a:latin typeface="+mj-lt"/>
              </a:rPr>
              <a:t>6–10 giờ</a:t>
            </a:r>
            <a:endParaRPr lang="vi-VN" dirty="0">
              <a:latin typeface="+mj-lt"/>
            </a:endParaRPr>
          </a:p>
          <a:p>
            <a:pPr>
              <a:buFont typeface="Arial" panose="020B0604020202020204" pitchFamily="34" charset="0"/>
              <a:buChar char="•"/>
            </a:pPr>
            <a:r>
              <a:rPr lang="vi-VN" dirty="0">
                <a:latin typeface="+mj-lt"/>
              </a:rPr>
              <a:t>Phù hợp sạc tại nhà</a:t>
            </a:r>
          </a:p>
          <a:p>
            <a:pPr>
              <a:buNone/>
            </a:pPr>
            <a:r>
              <a:rPr lang="en-US" b="1" dirty="0">
                <a:latin typeface="+mj-lt"/>
              </a:rPr>
              <a:t>🔹 </a:t>
            </a:r>
            <a:r>
              <a:rPr lang="vi-VN" b="1" dirty="0">
                <a:latin typeface="+mj-lt"/>
              </a:rPr>
              <a:t>Sạc DC (sạc nhanh)</a:t>
            </a:r>
          </a:p>
          <a:p>
            <a:pPr>
              <a:buFont typeface="Arial" panose="020B0604020202020204" pitchFamily="34" charset="0"/>
              <a:buChar char="•"/>
            </a:pPr>
            <a:r>
              <a:rPr lang="vi-VN" dirty="0">
                <a:latin typeface="+mj-lt"/>
              </a:rPr>
              <a:t>Dùng điện một chiều</a:t>
            </a:r>
          </a:p>
          <a:p>
            <a:pPr>
              <a:buFont typeface="Arial" panose="020B0604020202020204" pitchFamily="34" charset="0"/>
              <a:buChar char="•"/>
            </a:pPr>
            <a:r>
              <a:rPr lang="vi-VN" dirty="0">
                <a:latin typeface="+mj-lt"/>
              </a:rPr>
              <a:t>Thời gian sạc: </a:t>
            </a:r>
            <a:r>
              <a:rPr lang="vi-VN" b="1" dirty="0">
                <a:latin typeface="+mj-lt"/>
              </a:rPr>
              <a:t>20–60 phút</a:t>
            </a:r>
            <a:endParaRPr lang="vi-VN" dirty="0">
              <a:latin typeface="+mj-lt"/>
            </a:endParaRPr>
          </a:p>
          <a:p>
            <a:pPr>
              <a:buFont typeface="Arial" panose="020B0604020202020204" pitchFamily="34" charset="0"/>
              <a:buChar char="•"/>
            </a:pPr>
            <a:r>
              <a:rPr lang="vi-VN" dirty="0">
                <a:latin typeface="+mj-lt"/>
              </a:rPr>
              <a:t>Dùng tại trạm sạc công cộng</a:t>
            </a:r>
          </a:p>
        </p:txBody>
      </p:sp>
    </p:spTree>
    <p:extLst>
      <p:ext uri="{BB962C8B-B14F-4D97-AF65-F5344CB8AC3E}">
        <p14:creationId xmlns:p14="http://schemas.microsoft.com/office/powerpoint/2010/main" val="36390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4C97-AD2D-D2E4-CE94-6B5517CB28DB}"/>
              </a:ext>
            </a:extLst>
          </p:cNvPr>
          <p:cNvSpPr>
            <a:spLocks noGrp="1"/>
          </p:cNvSpPr>
          <p:nvPr>
            <p:ph type="title"/>
          </p:nvPr>
        </p:nvSpPr>
        <p:spPr>
          <a:xfrm>
            <a:off x="0" y="69980"/>
            <a:ext cx="7781730" cy="466531"/>
          </a:xfrm>
        </p:spPr>
        <p:txBody>
          <a:bodyPr>
            <a:normAutofit/>
          </a:bodyPr>
          <a:lstStyle/>
          <a:p>
            <a:r>
              <a:rPr lang="en-US" sz="2400" b="1" dirty="0" err="1">
                <a:latin typeface="Times New Roman" panose="02020603050405020304" pitchFamily="18" charset="0"/>
                <a:cs typeface="Times New Roman" panose="02020603050405020304" pitchFamily="18" charset="0"/>
              </a:rPr>
              <a:t>Giới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thiệu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chung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hệ</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thống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sạc</a:t>
            </a:r>
            <a:r>
              <a:rPr lang="en-US" sz="2400" b="1" dirty="0">
                <a:latin typeface="Times New Roman" panose="02020603050405020304" pitchFamily="18" charset="0"/>
                <a:cs typeface="Times New Roman" panose="02020603050405020304" pitchFamily="18" charset="0"/>
              </a:rPr>
              <a:t> ô </a:t>
            </a:r>
            <a:r>
              <a:rPr lang="en-US" sz="2400" b="1" dirty="0" err="1">
                <a:latin typeface="Times New Roman" panose="02020603050405020304" pitchFamily="18" charset="0"/>
                <a:cs typeface="Times New Roman" panose="02020603050405020304" pitchFamily="18" charset="0"/>
              </a:rPr>
              <a:t>tô</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điện</a:t>
            </a:r>
            <a:endParaRPr lang="en-US" sz="2400" dirty="0"/>
          </a:p>
        </p:txBody>
      </p:sp>
      <p:sp>
        <p:nvSpPr>
          <p:cNvPr id="4" name="TextBox 3">
            <a:extLst>
              <a:ext uri="{FF2B5EF4-FFF2-40B4-BE49-F238E27FC236}">
                <a16:creationId xmlns:a16="http://schemas.microsoft.com/office/drawing/2014/main" id="{9AF74163-674D-0B51-FB08-DE8B593308E4}"/>
              </a:ext>
            </a:extLst>
          </p:cNvPr>
          <p:cNvSpPr txBox="1"/>
          <p:nvPr/>
        </p:nvSpPr>
        <p:spPr>
          <a:xfrm>
            <a:off x="60649" y="536511"/>
            <a:ext cx="6141874" cy="4247317"/>
          </a:xfrm>
          <a:prstGeom prst="rect">
            <a:avLst/>
          </a:prstGeom>
          <a:noFill/>
        </p:spPr>
        <p:txBody>
          <a:bodyPr wrap="square">
            <a:spAutoFit/>
          </a:bodyPr>
          <a:lstStyle/>
          <a:p>
            <a:pPr>
              <a:buNone/>
            </a:pPr>
            <a:r>
              <a:rPr lang="vi-VN" b="1" dirty="0">
                <a:latin typeface="+mj-lt"/>
              </a:rPr>
              <a:t>6. Chuẩn sạc phổ biến</a:t>
            </a:r>
          </a:p>
          <a:p>
            <a:pPr>
              <a:buFont typeface="Arial" panose="020B0604020202020204" pitchFamily="34" charset="0"/>
              <a:buChar char="•"/>
            </a:pPr>
            <a:r>
              <a:rPr lang="vi-VN" dirty="0">
                <a:latin typeface="+mj-lt"/>
              </a:rPr>
              <a:t>Type 1 (SAE J1772)</a:t>
            </a:r>
          </a:p>
          <a:p>
            <a:pPr>
              <a:buFont typeface="Arial" panose="020B0604020202020204" pitchFamily="34" charset="0"/>
              <a:buChar char="•"/>
            </a:pPr>
            <a:r>
              <a:rPr lang="vi-VN" dirty="0">
                <a:latin typeface="+mj-lt"/>
              </a:rPr>
              <a:t>Type 2 (IEC 62196)</a:t>
            </a:r>
          </a:p>
          <a:p>
            <a:pPr>
              <a:buFont typeface="Arial" panose="020B0604020202020204" pitchFamily="34" charset="0"/>
              <a:buChar char="•"/>
            </a:pPr>
            <a:r>
              <a:rPr lang="vi-VN" dirty="0">
                <a:latin typeface="+mj-lt"/>
              </a:rPr>
              <a:t>CCS</a:t>
            </a:r>
          </a:p>
          <a:p>
            <a:pPr>
              <a:buFont typeface="Arial" panose="020B0604020202020204" pitchFamily="34" charset="0"/>
              <a:buChar char="•"/>
            </a:pPr>
            <a:r>
              <a:rPr lang="vi-VN" dirty="0">
                <a:latin typeface="+mj-lt"/>
              </a:rPr>
              <a:t>CHAdeMO</a:t>
            </a:r>
          </a:p>
          <a:p>
            <a:pPr>
              <a:buFont typeface="Arial" panose="020B0604020202020204" pitchFamily="34" charset="0"/>
              <a:buChar char="•"/>
            </a:pPr>
            <a:r>
              <a:rPr lang="vi-VN" dirty="0">
                <a:latin typeface="+mj-lt"/>
              </a:rPr>
              <a:t>GB/T</a:t>
            </a:r>
          </a:p>
          <a:p>
            <a:pPr>
              <a:buNone/>
            </a:pPr>
            <a:r>
              <a:rPr lang="vi-VN" b="1" dirty="0">
                <a:latin typeface="+mj-lt"/>
              </a:rPr>
              <a:t>7. Ưu điểm và hạn chế</a:t>
            </a:r>
          </a:p>
          <a:p>
            <a:pPr>
              <a:buNone/>
            </a:pPr>
            <a:r>
              <a:rPr lang="vi-VN" dirty="0">
                <a:latin typeface="+mj-lt"/>
              </a:rPr>
              <a:t>Ưu điểm:</a:t>
            </a:r>
          </a:p>
          <a:p>
            <a:pPr>
              <a:buFont typeface="Arial" panose="020B0604020202020204" pitchFamily="34" charset="0"/>
              <a:buChar char="•"/>
            </a:pPr>
            <a:r>
              <a:rPr lang="vi-VN" dirty="0">
                <a:latin typeface="+mj-lt"/>
              </a:rPr>
              <a:t>Tiết kiệm chi phí nhiên liệu</a:t>
            </a:r>
          </a:p>
          <a:p>
            <a:pPr>
              <a:buFont typeface="Arial" panose="020B0604020202020204" pitchFamily="34" charset="0"/>
              <a:buChar char="•"/>
            </a:pPr>
            <a:r>
              <a:rPr lang="vi-VN" dirty="0">
                <a:latin typeface="+mj-lt"/>
              </a:rPr>
              <a:t>Dễ sử dụng</a:t>
            </a:r>
          </a:p>
          <a:p>
            <a:pPr>
              <a:buFont typeface="Arial" panose="020B0604020202020204" pitchFamily="34" charset="0"/>
              <a:buChar char="•"/>
            </a:pPr>
            <a:r>
              <a:rPr lang="vi-VN" dirty="0">
                <a:latin typeface="+mj-lt"/>
              </a:rPr>
              <a:t>Tích hợp nhiều cơ chế bảo vệ</a:t>
            </a:r>
          </a:p>
          <a:p>
            <a:pPr>
              <a:buNone/>
            </a:pPr>
            <a:r>
              <a:rPr lang="vi-VN" dirty="0">
                <a:latin typeface="+mj-lt"/>
              </a:rPr>
              <a:t>Hạn chế:</a:t>
            </a:r>
          </a:p>
          <a:p>
            <a:pPr>
              <a:buFont typeface="Arial" panose="020B0604020202020204" pitchFamily="34" charset="0"/>
              <a:buChar char="•"/>
            </a:pPr>
            <a:r>
              <a:rPr lang="vi-VN" dirty="0">
                <a:latin typeface="+mj-lt"/>
              </a:rPr>
              <a:t>Phụ thuộc hạ tầng trạm sạc</a:t>
            </a:r>
          </a:p>
          <a:p>
            <a:pPr>
              <a:buFont typeface="Arial" panose="020B0604020202020204" pitchFamily="34" charset="0"/>
              <a:buChar char="•"/>
            </a:pPr>
            <a:r>
              <a:rPr lang="vi-VN" dirty="0">
                <a:latin typeface="+mj-lt"/>
              </a:rPr>
              <a:t>Thời gian sạc lâu hơn xe xăng</a:t>
            </a:r>
          </a:p>
          <a:p>
            <a:pPr>
              <a:buFont typeface="Arial" panose="020B0604020202020204" pitchFamily="34" charset="0"/>
              <a:buChar char="•"/>
            </a:pPr>
            <a:r>
              <a:rPr lang="vi-VN" dirty="0">
                <a:latin typeface="+mj-lt"/>
              </a:rPr>
              <a:t>Cần đầu tư thiết bị sạc phù hợp</a:t>
            </a:r>
          </a:p>
        </p:txBody>
      </p:sp>
    </p:spTree>
    <p:extLst>
      <p:ext uri="{BB962C8B-B14F-4D97-AF65-F5344CB8AC3E}">
        <p14:creationId xmlns:p14="http://schemas.microsoft.com/office/powerpoint/2010/main" val="3416166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6DE89-11E4-2B58-0602-20783F6E2282}"/>
              </a:ext>
            </a:extLst>
          </p:cNvPr>
          <p:cNvSpPr>
            <a:spLocks noGrp="1"/>
          </p:cNvSpPr>
          <p:nvPr>
            <p:ph type="title"/>
          </p:nvPr>
        </p:nvSpPr>
        <p:spPr>
          <a:xfrm>
            <a:off x="46654" y="79311"/>
            <a:ext cx="6680717" cy="331237"/>
          </a:xfrm>
        </p:spPr>
        <p:txBody>
          <a:bodyPr>
            <a:normAutofit fontScale="90000"/>
          </a:bodyPr>
          <a:lstStyle/>
          <a:p>
            <a:r>
              <a:rPr lang="en-US" sz="2400" b="1" dirty="0" err="1">
                <a:latin typeface="Times New Roman" panose="02020603050405020304" pitchFamily="18" charset="0"/>
                <a:cs typeface="Times New Roman" panose="02020603050405020304" pitchFamily="18" charset="0"/>
              </a:rPr>
              <a:t>Phân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loại</a:t>
            </a:r>
            <a:r>
              <a:rPr lang="en-US" sz="2400" b="1" dirty="0">
                <a:latin typeface="Times New Roman" panose="02020603050405020304" pitchFamily="18" charset="0"/>
                <a:cs typeface="Times New Roman" panose="02020603050405020304" pitchFamily="18" charset="0"/>
              </a:rPr>
              <a:t> pin </a:t>
            </a:r>
            <a:r>
              <a:rPr lang="en-US" sz="2400" b="1" dirty="0" err="1">
                <a:latin typeface="Times New Roman" panose="02020603050405020304" pitchFamily="18" charset="0"/>
                <a:cs typeface="Times New Roman" panose="02020603050405020304" pitchFamily="18" charset="0"/>
              </a:rPr>
              <a:t>xe</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điện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sạc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xe</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điện</a:t>
            </a:r>
            <a:endParaRPr lang="en-US"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3AC5D56-11B5-DFE4-F5D9-0C60ADCA3812}"/>
              </a:ext>
            </a:extLst>
          </p:cNvPr>
          <p:cNvSpPr txBox="1"/>
          <p:nvPr/>
        </p:nvSpPr>
        <p:spPr>
          <a:xfrm>
            <a:off x="46654" y="263591"/>
            <a:ext cx="5687007" cy="5682342"/>
          </a:xfrm>
          <a:prstGeom prst="rect">
            <a:avLst/>
          </a:prstGeom>
          <a:noFill/>
        </p:spPr>
        <p:txBody>
          <a:bodyPr wrap="square">
            <a:spAutoFit/>
          </a:bodyPr>
          <a:lstStyle/>
          <a:p>
            <a:pPr marL="342900" indent="-342900">
              <a:buAutoNum type="arabicPeriod"/>
            </a:pPr>
            <a:r>
              <a:rPr lang="vi-VN" b="1" dirty="0">
                <a:latin typeface="+mj-lt"/>
              </a:rPr>
              <a:t>Phân loại pin xe điện </a:t>
            </a:r>
          </a:p>
          <a:p>
            <a:r>
              <a:rPr lang="vi-VN" b="1" dirty="0">
                <a:latin typeface="+mj-lt"/>
              </a:rPr>
              <a:t>-</a:t>
            </a:r>
            <a:r>
              <a:rPr lang="vi-VN" sz="1600" b="1" dirty="0">
                <a:latin typeface="+mj-lt"/>
              </a:rPr>
              <a:t>Pin Lithium-ion (Li-ion)</a:t>
            </a:r>
          </a:p>
          <a:p>
            <a:r>
              <a:rPr lang="vi-VN" sz="1600" dirty="0">
                <a:latin typeface="+mj-lt"/>
              </a:rPr>
              <a:t>Phổ biến nhất hiện nay</a:t>
            </a:r>
          </a:p>
          <a:p>
            <a:r>
              <a:rPr lang="vi-VN" sz="1600" dirty="0">
                <a:latin typeface="+mj-lt"/>
              </a:rPr>
              <a:t>Mật độ năng lượng cao</a:t>
            </a:r>
          </a:p>
          <a:p>
            <a:r>
              <a:rPr lang="vi-VN" sz="1600" dirty="0">
                <a:latin typeface="+mj-lt"/>
              </a:rPr>
              <a:t>Trọng lượng nhẹ</a:t>
            </a:r>
          </a:p>
          <a:p>
            <a:r>
              <a:rPr lang="vi-VN" sz="1600" dirty="0">
                <a:latin typeface="+mj-lt"/>
              </a:rPr>
              <a:t>Dùng trên đa số xe điện</a:t>
            </a:r>
          </a:p>
          <a:p>
            <a:r>
              <a:rPr lang="vi-VN" sz="1600" dirty="0">
                <a:latin typeface="+mj-lt"/>
              </a:rPr>
              <a:t>Nhược điểm</a:t>
            </a:r>
            <a:r>
              <a:rPr lang="vi-VN" sz="1600" b="1" dirty="0">
                <a:latin typeface="+mj-lt"/>
              </a:rPr>
              <a:t>:</a:t>
            </a:r>
            <a:r>
              <a:rPr lang="vi-VN" sz="1600" dirty="0">
                <a:latin typeface="+mj-lt"/>
              </a:rPr>
              <a:t> giá thành cao, cần kiểm soát nhiệt tốt</a:t>
            </a:r>
          </a:p>
          <a:p>
            <a:r>
              <a:rPr lang="vi-VN" sz="1600" b="1" dirty="0">
                <a:latin typeface="+mj-lt"/>
              </a:rPr>
              <a:t>-Pin Lithium Iron Phosphate (LFP)</a:t>
            </a:r>
          </a:p>
          <a:p>
            <a:r>
              <a:rPr lang="vi-VN" sz="1600" dirty="0">
                <a:latin typeface="+mj-lt"/>
              </a:rPr>
              <a:t>An toàn cao, ít cháy nổ</a:t>
            </a:r>
          </a:p>
          <a:p>
            <a:r>
              <a:rPr lang="vi-VN" sz="1600" dirty="0">
                <a:latin typeface="+mj-lt"/>
              </a:rPr>
              <a:t>Tuổi thọ dài (nhiều chu kỳ sạc)</a:t>
            </a:r>
          </a:p>
          <a:p>
            <a:r>
              <a:rPr lang="vi-VN" sz="1600" dirty="0">
                <a:latin typeface="+mj-lt"/>
              </a:rPr>
              <a:t>Giá rẻ hơn Li-ion</a:t>
            </a:r>
          </a:p>
          <a:p>
            <a:r>
              <a:rPr lang="vi-VN" sz="1600" dirty="0">
                <a:latin typeface="+mj-lt"/>
              </a:rPr>
              <a:t>Nhược điểm: mật độ năng lượng thấp hơn</a:t>
            </a:r>
          </a:p>
          <a:p>
            <a:r>
              <a:rPr lang="vi-VN" sz="1600" b="1" dirty="0">
                <a:latin typeface="+mj-lt"/>
              </a:rPr>
              <a:t>-Pin Nickel Manganese Cobalt (NMC)</a:t>
            </a:r>
          </a:p>
          <a:p>
            <a:r>
              <a:rPr lang="vi-VN" sz="1600" dirty="0">
                <a:latin typeface="+mj-lt"/>
              </a:rPr>
              <a:t>Hiệu suất cao</a:t>
            </a:r>
          </a:p>
          <a:p>
            <a:r>
              <a:rPr lang="vi-VN" sz="1600" dirty="0">
                <a:latin typeface="+mj-lt"/>
              </a:rPr>
              <a:t>Quãng đường di chuyển dài</a:t>
            </a:r>
          </a:p>
          <a:p>
            <a:r>
              <a:rPr lang="vi-VN" sz="1600" dirty="0">
                <a:latin typeface="+mj-lt"/>
              </a:rPr>
              <a:t>Phổ biến trên xe điện cao cấp</a:t>
            </a:r>
          </a:p>
          <a:p>
            <a:r>
              <a:rPr lang="vi-VN" sz="1600" dirty="0">
                <a:latin typeface="+mj-lt"/>
              </a:rPr>
              <a:t>Nhược điểm</a:t>
            </a:r>
            <a:r>
              <a:rPr lang="vi-VN" sz="1600" b="1" dirty="0">
                <a:latin typeface="+mj-lt"/>
              </a:rPr>
              <a:t>:</a:t>
            </a:r>
            <a:r>
              <a:rPr lang="vi-VN" sz="1600" dirty="0">
                <a:latin typeface="+mj-lt"/>
              </a:rPr>
              <a:t> chi phí cao, phụ thuộc kim loại hiếm</a:t>
            </a:r>
            <a:br>
              <a:rPr lang="vi-VN" sz="1600" dirty="0">
                <a:latin typeface="+mj-lt"/>
              </a:rPr>
            </a:br>
            <a:r>
              <a:rPr lang="vi-VN" sz="1600" b="1" dirty="0">
                <a:latin typeface="+mj-lt"/>
              </a:rPr>
              <a:t>Pin thể rắn (Solid-State) – tương lai</a:t>
            </a:r>
          </a:p>
          <a:p>
            <a:r>
              <a:rPr lang="vi-VN" sz="1600" dirty="0">
                <a:latin typeface="+mj-lt"/>
              </a:rPr>
              <a:t>An toàn vượt trội</a:t>
            </a:r>
          </a:p>
          <a:p>
            <a:r>
              <a:rPr lang="vi-VN" sz="1600" dirty="0">
                <a:latin typeface="+mj-lt"/>
              </a:rPr>
              <a:t>Sạc nhanh</a:t>
            </a:r>
          </a:p>
          <a:p>
            <a:r>
              <a:rPr lang="vi-VN" sz="1600" dirty="0">
                <a:latin typeface="+mj-lt"/>
              </a:rPr>
              <a:t>Dung lượng cao</a:t>
            </a:r>
          </a:p>
          <a:p>
            <a:r>
              <a:rPr lang="vi-VN" sz="1600" dirty="0">
                <a:latin typeface="+mj-lt"/>
              </a:rPr>
              <a:t>Hạn chế</a:t>
            </a:r>
            <a:r>
              <a:rPr lang="vi-VN" sz="1600" b="1" dirty="0">
                <a:latin typeface="+mj-lt"/>
              </a:rPr>
              <a:t>:</a:t>
            </a:r>
            <a:r>
              <a:rPr lang="vi-VN" sz="1600" dirty="0">
                <a:latin typeface="+mj-lt"/>
              </a:rPr>
              <a:t> đang trong giai đoạn nghiên cứu</a:t>
            </a:r>
          </a:p>
          <a:p>
            <a:pPr>
              <a:buNone/>
            </a:pPr>
            <a:endParaRPr lang="vi-VN" sz="1050" dirty="0">
              <a:latin typeface="+mj-lt"/>
            </a:endParaRPr>
          </a:p>
        </p:txBody>
      </p:sp>
      <p:pic>
        <p:nvPicPr>
          <p:cNvPr id="6" name="Picture 5">
            <a:extLst>
              <a:ext uri="{FF2B5EF4-FFF2-40B4-BE49-F238E27FC236}">
                <a16:creationId xmlns:a16="http://schemas.microsoft.com/office/drawing/2014/main" id="{47AD742E-6FD0-CF54-4C6D-246252FB2BA4}"/>
              </a:ext>
            </a:extLst>
          </p:cNvPr>
          <p:cNvPicPr>
            <a:picLocks noChangeAspect="1"/>
          </p:cNvPicPr>
          <p:nvPr/>
        </p:nvPicPr>
        <p:blipFill>
          <a:blip r:embed="rId2"/>
          <a:stretch>
            <a:fillRect/>
          </a:stretch>
        </p:blipFill>
        <p:spPr>
          <a:xfrm>
            <a:off x="4620240" y="512341"/>
            <a:ext cx="6506483" cy="3715268"/>
          </a:xfrm>
          <a:prstGeom prst="rect">
            <a:avLst/>
          </a:prstGeom>
        </p:spPr>
      </p:pic>
    </p:spTree>
    <p:extLst>
      <p:ext uri="{BB962C8B-B14F-4D97-AF65-F5344CB8AC3E}">
        <p14:creationId xmlns:p14="http://schemas.microsoft.com/office/powerpoint/2010/main" val="2061018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0DD7E-92E3-EAC1-7D0A-BDA557940CA5}"/>
              </a:ext>
            </a:extLst>
          </p:cNvPr>
          <p:cNvSpPr>
            <a:spLocks noGrp="1"/>
          </p:cNvSpPr>
          <p:nvPr>
            <p:ph type="title"/>
          </p:nvPr>
        </p:nvSpPr>
        <p:spPr>
          <a:xfrm>
            <a:off x="0" y="60650"/>
            <a:ext cx="6643395" cy="419878"/>
          </a:xfrm>
        </p:spPr>
        <p:txBody>
          <a:bodyPr>
            <a:normAutofit fontScale="90000"/>
          </a:bodyPr>
          <a:lstStyle/>
          <a:p>
            <a:r>
              <a:rPr lang="en-US" sz="2400" b="1">
                <a:latin typeface="Times New Roman" panose="02020603050405020304" pitchFamily="18" charset="0"/>
                <a:cs typeface="Times New Roman" panose="02020603050405020304" pitchFamily="18" charset="0"/>
              </a:rPr>
              <a:t>Phân loại pin xe điện và sạc xe điện</a:t>
            </a:r>
            <a:endParaRPr lang="en-US" sz="2400" dirty="0"/>
          </a:p>
        </p:txBody>
      </p:sp>
      <p:sp>
        <p:nvSpPr>
          <p:cNvPr id="4" name="TextBox 3">
            <a:extLst>
              <a:ext uri="{FF2B5EF4-FFF2-40B4-BE49-F238E27FC236}">
                <a16:creationId xmlns:a16="http://schemas.microsoft.com/office/drawing/2014/main" id="{CBDEBDE0-47C1-1D3F-C29C-056CE85911CD}"/>
              </a:ext>
            </a:extLst>
          </p:cNvPr>
          <p:cNvSpPr txBox="1"/>
          <p:nvPr/>
        </p:nvSpPr>
        <p:spPr>
          <a:xfrm>
            <a:off x="118965" y="431470"/>
            <a:ext cx="6134876" cy="3970318"/>
          </a:xfrm>
          <a:prstGeom prst="rect">
            <a:avLst/>
          </a:prstGeom>
          <a:noFill/>
        </p:spPr>
        <p:txBody>
          <a:bodyPr wrap="square">
            <a:spAutoFit/>
          </a:bodyPr>
          <a:lstStyle/>
          <a:p>
            <a:pPr>
              <a:buNone/>
            </a:pPr>
            <a:r>
              <a:rPr lang="vi-VN" b="1" dirty="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PHÂN LOẠI SẠC XE ĐIỆN</a:t>
            </a:r>
          </a:p>
          <a:p>
            <a:pPr>
              <a:buNone/>
            </a:pPr>
            <a:r>
              <a:rPr lang="en-US" dirty="0">
                <a:latin typeface="Times New Roman" panose="02020603050405020304" pitchFamily="18" charset="0"/>
                <a:cs typeface="Times New Roman" panose="02020603050405020304" pitchFamily="18" charset="0"/>
              </a:rPr>
              <a:t>Theo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dòng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Sạc</a:t>
            </a:r>
            <a:r>
              <a:rPr lang="en-US" dirty="0">
                <a:latin typeface="Times New Roman" panose="02020603050405020304" pitchFamily="18" charset="0"/>
                <a:cs typeface="Times New Roman" panose="02020603050405020304" pitchFamily="18" charset="0"/>
              </a:rPr>
              <a:t> AC (</a:t>
            </a:r>
            <a:r>
              <a:rPr lang="en-US" dirty="0" err="1">
                <a:latin typeface="Times New Roman" panose="02020603050405020304" pitchFamily="18" charset="0"/>
                <a:cs typeface="Times New Roman" panose="02020603050405020304" pitchFamily="18" charset="0"/>
              </a:rPr>
              <a:t>xoay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chiều</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Sạc</a:t>
            </a:r>
            <a:r>
              <a:rPr lang="en-US" dirty="0">
                <a:latin typeface="Times New Roman" panose="02020603050405020304" pitchFamily="18" charset="0"/>
                <a:cs typeface="Times New Roman" panose="02020603050405020304" pitchFamily="18" charset="0"/>
              </a:rPr>
              <a:t> qua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xe</a:t>
            </a:r>
            <a:r>
              <a:rPr lang="en-US" dirty="0">
                <a:latin typeface="Times New Roman" panose="02020603050405020304" pitchFamily="18" charset="0"/>
                <a:cs typeface="Times New Roman" panose="02020603050405020304" pitchFamily="18" charset="0"/>
              </a:rPr>
              <a:t> (OBC)</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Công </a:t>
            </a:r>
            <a:r>
              <a:rPr lang="en-US" dirty="0" err="1">
                <a:latin typeface="Times New Roman" panose="02020603050405020304" pitchFamily="18" charset="0"/>
                <a:cs typeface="Times New Roman" panose="02020603050405020304" pitchFamily="18" charset="0"/>
              </a:rPr>
              <a:t>suất</a:t>
            </a:r>
            <a:r>
              <a:rPr lang="en-US" dirty="0">
                <a:latin typeface="Times New Roman" panose="02020603050405020304" pitchFamily="18" charset="0"/>
                <a:cs typeface="Times New Roman" panose="02020603050405020304" pitchFamily="18" charset="0"/>
              </a:rPr>
              <a:t>: 3.3 – 22 kW</a:t>
            </a: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Thời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sạc</a:t>
            </a:r>
            <a:r>
              <a:rPr lang="en-US" dirty="0">
                <a:latin typeface="Times New Roman" panose="02020603050405020304" pitchFamily="18" charset="0"/>
                <a:cs typeface="Times New Roman" panose="02020603050405020304" pitchFamily="18" charset="0"/>
              </a:rPr>
              <a:t>: 6 – 10 </a:t>
            </a:r>
            <a:r>
              <a:rPr lang="en-US" dirty="0" err="1">
                <a:latin typeface="Times New Roman" panose="02020603050405020304" pitchFamily="18" charset="0"/>
                <a:cs typeface="Times New Roman" panose="02020603050405020304" pitchFamily="18" charset="0"/>
              </a:rPr>
              <a:t>giờ</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Phù</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nhà</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Sạc</a:t>
            </a:r>
            <a:r>
              <a:rPr lang="en-US" dirty="0">
                <a:latin typeface="Times New Roman" panose="02020603050405020304" pitchFamily="18" charset="0"/>
                <a:cs typeface="Times New Roman" panose="02020603050405020304" pitchFamily="18" charset="0"/>
              </a:rPr>
              <a:t> DC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chiều</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sạc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nhanh</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Cấp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pin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Công </a:t>
            </a:r>
            <a:r>
              <a:rPr lang="en-US" dirty="0" err="1">
                <a:latin typeface="Times New Roman" panose="02020603050405020304" pitchFamily="18" charset="0"/>
                <a:cs typeface="Times New Roman" panose="02020603050405020304" pitchFamily="18" charset="0"/>
              </a:rPr>
              <a:t>suất</a:t>
            </a:r>
            <a:r>
              <a:rPr lang="en-US" dirty="0">
                <a:latin typeface="Times New Roman" panose="02020603050405020304" pitchFamily="18" charset="0"/>
                <a:cs typeface="Times New Roman" panose="02020603050405020304" pitchFamily="18" charset="0"/>
              </a:rPr>
              <a:t>: 50 – 350 kW</a:t>
            </a: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Thời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sạc</a:t>
            </a:r>
            <a:r>
              <a:rPr lang="en-US" dirty="0">
                <a:latin typeface="Times New Roman" panose="02020603050405020304" pitchFamily="18" charset="0"/>
                <a:cs typeface="Times New Roman" panose="02020603050405020304" pitchFamily="18" charset="0"/>
              </a:rPr>
              <a:t>: 20 – 60 </a:t>
            </a:r>
            <a:r>
              <a:rPr lang="en-US" dirty="0" err="1">
                <a:latin typeface="Times New Roman" panose="02020603050405020304" pitchFamily="18" charset="0"/>
                <a:cs typeface="Times New Roman" panose="02020603050405020304" pitchFamily="18" charset="0"/>
              </a:rPr>
              <a:t>phút</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trạm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cộng</a:t>
            </a:r>
            <a:endParaRPr lang="vi-VN"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Theo </a:t>
            </a:r>
            <a:r>
              <a:rPr lang="en-US" altLang="en-US" dirty="0" err="1">
                <a:latin typeface="Times New Roman" panose="02020603050405020304" pitchFamily="18" charset="0"/>
                <a:cs typeface="Times New Roman" panose="02020603050405020304" pitchFamily="18" charset="0"/>
              </a:rPr>
              <a:t>tốc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độ</a:t>
            </a:r>
            <a:r>
              <a:rPr lang="en-US" altLang="en-US" dirty="0">
                <a:latin typeface="Times New Roman" panose="02020603050405020304" pitchFamily="18" charset="0"/>
                <a:cs typeface="Times New Roman" panose="02020603050405020304" pitchFamily="18" charset="0"/>
              </a:rPr>
              <a:t> </a:t>
            </a:r>
            <a:r>
              <a:rPr lang="vi-VN" altLang="en-US" dirty="0">
                <a:latin typeface="Times New Roman" panose="02020603050405020304" pitchFamily="18" charset="0"/>
                <a:cs typeface="Times New Roman" panose="02020603050405020304" pitchFamily="18" charset="0"/>
              </a:rPr>
              <a:t>sạc:</a:t>
            </a:r>
            <a:endParaRPr lang="en-US" altLang="en-US" dirty="0">
              <a:latin typeface="Times New Roman" panose="02020603050405020304" pitchFamily="18" charset="0"/>
              <a:cs typeface="Times New Roman" panose="02020603050405020304" pitchFamily="18" charset="0"/>
            </a:endParaRPr>
          </a:p>
          <a:p>
            <a:endParaRPr lang="vi-VN"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DB29D4C-70BD-FD6C-2CD1-429CE036728A}"/>
              </a:ext>
            </a:extLst>
          </p:cNvPr>
          <p:cNvGraphicFramePr>
            <a:graphicFrameLocks noGrp="1"/>
          </p:cNvGraphicFramePr>
          <p:nvPr>
            <p:extLst>
              <p:ext uri="{D42A27DB-BD31-4B8C-83A1-F6EECF244321}">
                <p14:modId xmlns:p14="http://schemas.microsoft.com/office/powerpoint/2010/main" val="3685692667"/>
              </p:ext>
            </p:extLst>
          </p:nvPr>
        </p:nvGraphicFramePr>
        <p:xfrm>
          <a:off x="118965" y="4041088"/>
          <a:ext cx="10382542" cy="1463040"/>
        </p:xfrm>
        <a:graphic>
          <a:graphicData uri="http://schemas.openxmlformats.org/drawingml/2006/table">
            <a:tbl>
              <a:tblPr/>
              <a:tblGrid>
                <a:gridCol w="3451516">
                  <a:extLst>
                    <a:ext uri="{9D8B030D-6E8A-4147-A177-3AD203B41FA5}">
                      <a16:colId xmlns:a16="http://schemas.microsoft.com/office/drawing/2014/main" val="1935802663"/>
                    </a:ext>
                  </a:extLst>
                </a:gridCol>
                <a:gridCol w="3465513">
                  <a:extLst>
                    <a:ext uri="{9D8B030D-6E8A-4147-A177-3AD203B41FA5}">
                      <a16:colId xmlns:a16="http://schemas.microsoft.com/office/drawing/2014/main" val="1773501314"/>
                    </a:ext>
                  </a:extLst>
                </a:gridCol>
                <a:gridCol w="3465513">
                  <a:extLst>
                    <a:ext uri="{9D8B030D-6E8A-4147-A177-3AD203B41FA5}">
                      <a16:colId xmlns:a16="http://schemas.microsoft.com/office/drawing/2014/main" val="3942381108"/>
                    </a:ext>
                  </a:extLst>
                </a:gridCol>
              </a:tblGrid>
              <a:tr h="365760">
                <a:tc>
                  <a:txBody>
                    <a:bodyPr/>
                    <a:lstStyle/>
                    <a:p>
                      <a:pPr>
                        <a:buNone/>
                      </a:pPr>
                      <a:r>
                        <a:rPr lang="en-US" sz="1800" dirty="0" err="1">
                          <a:latin typeface="Times New Roman" panose="02020603050405020304" pitchFamily="18" charset="0"/>
                          <a:cs typeface="Times New Roman" panose="02020603050405020304" pitchFamily="18" charset="0"/>
                        </a:rPr>
                        <a:t>Loại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sạc</a:t>
                      </a:r>
                      <a:endParaRPr lang="en-US"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Thời gian</a:t>
                      </a:r>
                    </a:p>
                  </a:txBody>
                  <a:tcPr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Ứng dụng</a:t>
                      </a:r>
                    </a:p>
                  </a:txBody>
                  <a:tcPr anchor="ctr">
                    <a:lnL>
                      <a:noFill/>
                    </a:lnL>
                    <a:lnR>
                      <a:noFill/>
                    </a:lnR>
                    <a:lnT>
                      <a:noFill/>
                    </a:lnT>
                    <a:lnB>
                      <a:noFill/>
                    </a:lnB>
                    <a:noFill/>
                  </a:tcPr>
                </a:tc>
                <a:extLst>
                  <a:ext uri="{0D108BD9-81ED-4DB2-BD59-A6C34878D82A}">
                    <a16:rowId xmlns:a16="http://schemas.microsoft.com/office/drawing/2014/main" val="216144864"/>
                  </a:ext>
                </a:extLst>
              </a:tr>
              <a:tr h="365760">
                <a:tc>
                  <a:txBody>
                    <a:bodyPr/>
                    <a:lstStyle/>
                    <a:p>
                      <a:pPr>
                        <a:buNone/>
                      </a:pPr>
                      <a:r>
                        <a:rPr lang="en-US" sz="1800" dirty="0" err="1">
                          <a:latin typeface="Times New Roman" panose="02020603050405020304" pitchFamily="18" charset="0"/>
                          <a:cs typeface="Times New Roman" panose="02020603050405020304" pitchFamily="18" charset="0"/>
                        </a:rPr>
                        <a:t>Sạc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chậm</a:t>
                      </a:r>
                      <a:endParaRPr lang="en-US"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8–12 </a:t>
                      </a:r>
                      <a:r>
                        <a:rPr lang="en-US" sz="1800" dirty="0" err="1">
                          <a:latin typeface="Times New Roman" panose="02020603050405020304" pitchFamily="18" charset="0"/>
                          <a:cs typeface="Times New Roman" panose="02020603050405020304" pitchFamily="18" charset="0"/>
                        </a:rPr>
                        <a:t>giờ</a:t>
                      </a:r>
                      <a:endParaRPr lang="en-US"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Sạc tại nhà</a:t>
                      </a:r>
                    </a:p>
                  </a:txBody>
                  <a:tcPr anchor="ctr">
                    <a:lnL>
                      <a:noFill/>
                    </a:lnL>
                    <a:lnR>
                      <a:noFill/>
                    </a:lnR>
                    <a:lnT>
                      <a:noFill/>
                    </a:lnT>
                    <a:lnB>
                      <a:noFill/>
                    </a:lnB>
                    <a:noFill/>
                  </a:tcPr>
                </a:tc>
                <a:extLst>
                  <a:ext uri="{0D108BD9-81ED-4DB2-BD59-A6C34878D82A}">
                    <a16:rowId xmlns:a16="http://schemas.microsoft.com/office/drawing/2014/main" val="3668445844"/>
                  </a:ext>
                </a:extLst>
              </a:tr>
              <a:tr h="365760">
                <a:tc>
                  <a:txBody>
                    <a:bodyPr/>
                    <a:lstStyle/>
                    <a:p>
                      <a:pPr>
                        <a:buNone/>
                      </a:pPr>
                      <a:r>
                        <a:rPr lang="en-US" sz="1800" dirty="0" err="1">
                          <a:latin typeface="Times New Roman" panose="02020603050405020304" pitchFamily="18" charset="0"/>
                          <a:cs typeface="Times New Roman" panose="02020603050405020304" pitchFamily="18" charset="0"/>
                        </a:rPr>
                        <a:t>Sạc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nhanh</a:t>
                      </a:r>
                      <a:endParaRPr lang="en-US"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1–2 </a:t>
                      </a:r>
                      <a:r>
                        <a:rPr lang="en-US" sz="1800" dirty="0" err="1">
                          <a:latin typeface="Times New Roman" panose="02020603050405020304" pitchFamily="18" charset="0"/>
                          <a:cs typeface="Times New Roman" panose="02020603050405020304" pitchFamily="18" charset="0"/>
                        </a:rPr>
                        <a:t>giờ</a:t>
                      </a:r>
                      <a:endParaRPr lang="en-US"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800" dirty="0" err="1">
                          <a:latin typeface="Times New Roman" panose="02020603050405020304" pitchFamily="18" charset="0"/>
                          <a:cs typeface="Times New Roman" panose="02020603050405020304" pitchFamily="18" charset="0"/>
                        </a:rPr>
                        <a:t>Trạm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công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cộng</a:t>
                      </a:r>
                      <a:endParaRPr lang="en-US"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820925083"/>
                  </a:ext>
                </a:extLst>
              </a:tr>
              <a:tr h="365760">
                <a:tc>
                  <a:txBody>
                    <a:bodyPr/>
                    <a:lstStyle/>
                    <a:p>
                      <a:pPr>
                        <a:buNone/>
                      </a:pPr>
                      <a:r>
                        <a:rPr lang="en-US" sz="1800" dirty="0" err="1">
                          <a:latin typeface="Times New Roman" panose="02020603050405020304" pitchFamily="18" charset="0"/>
                          <a:cs typeface="Times New Roman" panose="02020603050405020304" pitchFamily="18" charset="0"/>
                        </a:rPr>
                        <a:t>Sạc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siêu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nhanh</a:t>
                      </a:r>
                      <a:endParaRPr lang="en-US"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&lt;30 phút</a:t>
                      </a:r>
                    </a:p>
                  </a:txBody>
                  <a:tcPr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Cao </a:t>
                      </a:r>
                      <a:r>
                        <a:rPr lang="en-US" sz="1800" dirty="0" err="1">
                          <a:latin typeface="Times New Roman" panose="02020603050405020304" pitchFamily="18" charset="0"/>
                          <a:cs typeface="Times New Roman" panose="02020603050405020304" pitchFamily="18" charset="0"/>
                        </a:rPr>
                        <a:t>tốc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đô</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thị</a:t>
                      </a:r>
                      <a:endParaRPr lang="en-US"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4123556944"/>
                  </a:ext>
                </a:extLst>
              </a:tr>
            </a:tbl>
          </a:graphicData>
        </a:graphic>
      </p:graphicFrame>
    </p:spTree>
    <p:extLst>
      <p:ext uri="{BB962C8B-B14F-4D97-AF65-F5344CB8AC3E}">
        <p14:creationId xmlns:p14="http://schemas.microsoft.com/office/powerpoint/2010/main" val="1327953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6774C-30A5-4159-6E72-55A7A2EE310D}"/>
              </a:ext>
            </a:extLst>
          </p:cNvPr>
          <p:cNvSpPr>
            <a:spLocks noGrp="1"/>
          </p:cNvSpPr>
          <p:nvPr>
            <p:ph type="title"/>
          </p:nvPr>
        </p:nvSpPr>
        <p:spPr>
          <a:xfrm>
            <a:off x="-60648" y="3876869"/>
            <a:ext cx="10396882" cy="1151965"/>
          </a:xfrm>
        </p:spPr>
        <p:txBody>
          <a:bodyPr>
            <a:normAutofit/>
          </a:bodyPr>
          <a:lstStyle/>
          <a:p>
            <a:r>
              <a:rPr lang="vi-VN" sz="6600" dirty="0"/>
              <a:t>                Thank you</a:t>
            </a:r>
            <a:endParaRPr lang="en-US" sz="6600" dirty="0"/>
          </a:p>
        </p:txBody>
      </p:sp>
    </p:spTree>
    <p:extLst>
      <p:ext uri="{BB962C8B-B14F-4D97-AF65-F5344CB8AC3E}">
        <p14:creationId xmlns:p14="http://schemas.microsoft.com/office/powerpoint/2010/main" val="421065519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TM04033927[[fn=Main Event]]</Template>
  <TotalTime>74</TotalTime>
  <Words>872</Words>
  <Application>Microsoft Office PowerPoint</Application>
  <PresentationFormat>Widescreen</PresentationFormat>
  <Paragraphs>111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Impact</vt:lpstr>
      <vt:lpstr>Times New Roman</vt:lpstr>
      <vt:lpstr>Main Event</vt:lpstr>
      <vt:lpstr>CHƯƠNG 2 : Hệ thống sạc pin cho xe điện</vt:lpstr>
      <vt:lpstr>Giới thiệu chung về Pin trên ô tô điện</vt:lpstr>
      <vt:lpstr>Giới thiệu chung về hệ thống sạc ô tô điện </vt:lpstr>
      <vt:lpstr>Giới thiệu chung về hệ thống sạc ô tô điện</vt:lpstr>
      <vt:lpstr>Giới thiệu chung về hệ thống sạc ô tô điện</vt:lpstr>
      <vt:lpstr>Phân loại pin xe điện và sạc xe điện</vt:lpstr>
      <vt:lpstr>Phân loại pin xe điện và sạc xe điện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nguyentien2005bg@gmail.com</dc:creator>
  <cp:lastModifiedBy>nguyentien2005bg@gmail.com</cp:lastModifiedBy>
  <cp:revision>1</cp:revision>
  <dcterms:created xsi:type="dcterms:W3CDTF">2025-12-16T01:14:06Z</dcterms:created>
  <dcterms:modified xsi:type="dcterms:W3CDTF">2025-12-16T02:28:37Z</dcterms:modified>
</cp:coreProperties>
</file>