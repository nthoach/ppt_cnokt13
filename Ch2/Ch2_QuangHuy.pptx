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9" r:id="rId5"/>
    <p:sldId id="263" r:id="rId6"/>
    <p:sldId id="262" r:id="rId7"/>
    <p:sldId id="261"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9"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79"/>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208933" cy="6858000"/>
          </a:xfrm>
          <a:prstGeom prst="rect">
            <a:avLst/>
          </a:prstGeom>
          <a:noFill/>
          <a:ln w="9525">
            <a:noFill/>
          </a:ln>
        </p:spPr>
      </p:pic>
      <p:sp>
        <p:nvSpPr>
          <p:cNvPr id="2051" name="Rectangle 3"/>
          <p:cNvSpPr>
            <a:spLocks noGrp="1" noChangeArrowheads="1"/>
          </p:cNvSpPr>
          <p:nvPr>
            <p:ph type="ctrTitle"/>
          </p:nvPr>
        </p:nvSpPr>
        <p:spPr>
          <a:xfrm>
            <a:off x="624417" y="1196975"/>
            <a:ext cx="10943167" cy="1082675"/>
          </a:xfrm>
        </p:spPr>
        <p:txBody>
          <a:bodyPr/>
          <a:lstStyle>
            <a:lvl1pPr algn="ctr">
              <a:defRPr>
                <a:solidFill>
                  <a:schemeClr val="bg1"/>
                </a:solidFill>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626533" y="2422525"/>
            <a:ext cx="10949517" cy="1752600"/>
          </a:xfrm>
        </p:spPr>
        <p:txBody>
          <a:bodyPr/>
          <a:lstStyle>
            <a:lvl1pPr marL="0" indent="0" algn="ctr">
              <a:buFontTx/>
              <a:buNone/>
              <a:defRPr>
                <a:solidFill>
                  <a:schemeClr val="bg1"/>
                </a:solidFill>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9"/>
          <p:cNvPicPr>
            <a:picLocks noChangeAspect="1"/>
          </p:cNvPicPr>
          <p:nvPr/>
        </p:nvPicPr>
        <p:blipFill>
          <a:blip r:embed="rId12"/>
          <a:stretch>
            <a:fillRect/>
          </a:stretch>
        </p:blipFill>
        <p:spPr>
          <a:xfrm>
            <a:off x="0" y="0"/>
            <a:ext cx="12208933"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vi-VN" altLang="en-US" dirty="0"/>
              <a:t>CHƯƠNG </a:t>
            </a:r>
            <a:r>
              <a:rPr lang="vi-VN" altLang="en-US" dirty="0"/>
              <a:t>2 </a:t>
            </a:r>
            <a:r>
              <a:rPr lang="en-US" altLang="en-US" dirty="0"/>
              <a:t>. Hệ thống sạc pin cho xe </a:t>
            </a:r>
            <a:r>
              <a:rPr lang="" altLang="en-US" dirty="0"/>
              <a:t>đ</a:t>
            </a:r>
            <a:r>
              <a:rPr lang="en-US" altLang="en-US" dirty="0"/>
              <a:t>iện</a:t>
            </a:r>
            <a:r>
              <a:rPr lang="vi-VN" altLang="en-US" dirty="0"/>
              <a:t> </a:t>
            </a:r>
            <a:endParaRPr lang="vi-VN" altLang="en-US" dirty="0"/>
          </a:p>
        </p:txBody>
      </p:sp>
      <p:sp>
        <p:nvSpPr>
          <p:cNvPr id="3" name="Subtitle 2"/>
          <p:cNvSpPr>
            <a:spLocks noGrp="1"/>
          </p:cNvSpPr>
          <p:nvPr>
            <p:ph type="subTitle" idx="1"/>
          </p:nvPr>
        </p:nvSpPr>
        <p:spPr/>
        <p:txBody>
          <a:bodyPr/>
          <a:lstStyle/>
          <a:p>
            <a:r>
              <a:rPr lang="vi-VN" altLang="en-US"/>
              <a:t>Nguyễn Quang </a:t>
            </a:r>
            <a:r>
              <a:rPr lang="vi-VN" altLang="en-US"/>
              <a:t>Huy</a:t>
            </a:r>
            <a:endParaRPr lang="vi-V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00965" y="128905"/>
            <a:ext cx="11946255" cy="5615940"/>
          </a:xfrm>
          <a:prstGeom prst="rect">
            <a:avLst/>
          </a:prstGeom>
        </p:spPr>
        <p:txBody>
          <a:bodyPr wrap="square">
            <a:spAutoFit/>
          </a:bodyPr>
          <a:p>
            <a:pPr>
              <a:spcAft>
                <a:spcPct val="0"/>
              </a:spcAft>
            </a:pPr>
            <a:r>
              <a:rPr sz="2300" b="1"/>
              <a:t>Hệ thống sạc pin ô tô điện</a:t>
            </a:r>
            <a:endParaRPr sz="2300" b="1"/>
          </a:p>
          <a:p>
            <a:r>
              <a:rPr sz="1400"/>
              <a:t>Chức năng:</a:t>
            </a:r>
            <a:endParaRPr sz="1400"/>
          </a:p>
          <a:p>
            <a:endParaRPr sz="1400"/>
          </a:p>
          <a:p>
            <a:pPr>
              <a:buFont typeface="Arial" panose="020B0604020202020204"/>
              <a:buChar char="•"/>
            </a:pPr>
            <a:r>
              <a:rPr sz="1400"/>
              <a:t>Nạp điện cho pin từ nguồn ngoài.</a:t>
            </a:r>
            <a:endParaRPr sz="1400"/>
          </a:p>
          <a:p>
            <a:pPr>
              <a:buFont typeface="Arial" panose="020B0604020202020204"/>
              <a:buChar char="•"/>
            </a:pPr>
            <a:endParaRPr sz="1400"/>
          </a:p>
          <a:p>
            <a:pPr>
              <a:buFont typeface="Arial" panose="020B0604020202020204"/>
              <a:buChar char="•"/>
            </a:pPr>
            <a:r>
              <a:rPr sz="1400"/>
              <a:t>Bảo vệ và tối ưu tuổi thọ pin.</a:t>
            </a:r>
            <a:endParaRPr sz="1400"/>
          </a:p>
          <a:p>
            <a:r>
              <a:rPr sz="1400"/>
              <a:t>Thành phần chính:</a:t>
            </a:r>
            <a:endParaRPr sz="1400"/>
          </a:p>
          <a:p>
            <a:endParaRPr sz="1400"/>
          </a:p>
          <a:p>
            <a:pPr>
              <a:buFont typeface="Arial" panose="020B0604020202020204"/>
              <a:buChar char="•"/>
            </a:pPr>
            <a:r>
              <a:rPr sz="1400"/>
              <a:t>Nguồn điện: AC (sạc chậm), DC (sạc nhanh).</a:t>
            </a:r>
            <a:endParaRPr sz="1400"/>
          </a:p>
          <a:p>
            <a:pPr>
              <a:buFont typeface="Arial" panose="020B0604020202020204"/>
              <a:buChar char="•"/>
            </a:pPr>
            <a:endParaRPr sz="1400"/>
          </a:p>
          <a:p>
            <a:pPr>
              <a:buFont typeface="Arial" panose="020B0604020202020204"/>
              <a:buChar char="•"/>
            </a:pPr>
            <a:r>
              <a:rPr sz="1400"/>
              <a:t>Bộ sạc (OBC): đổi AC → DC, điều chỉnh dòng/áp.</a:t>
            </a:r>
            <a:endParaRPr sz="1400"/>
          </a:p>
          <a:p>
            <a:pPr>
              <a:buFont typeface="Arial" panose="020B0604020202020204"/>
              <a:buChar char="•"/>
            </a:pPr>
            <a:endParaRPr sz="1400"/>
          </a:p>
          <a:p>
            <a:pPr>
              <a:buFont typeface="Arial" panose="020B0604020202020204"/>
              <a:buChar char="•"/>
            </a:pPr>
            <a:r>
              <a:rPr sz="1400"/>
              <a:t>BMS (quản lý pin): giám sát, cân bằng cell, bảo vệ an toàn.</a:t>
            </a:r>
            <a:endParaRPr sz="1400"/>
          </a:p>
          <a:p>
            <a:pPr>
              <a:buFont typeface="Arial" panose="020B0604020202020204"/>
              <a:buChar char="•"/>
            </a:pPr>
            <a:endParaRPr sz="1400"/>
          </a:p>
          <a:p>
            <a:pPr>
              <a:buFont typeface="Arial" panose="020B0604020202020204"/>
              <a:buChar char="•"/>
            </a:pPr>
            <a:r>
              <a:rPr sz="1400"/>
              <a:t>Cổng sạc &amp; giắc cắm: chuẩn Type 1, Type 2, CCS…</a:t>
            </a:r>
            <a:endParaRPr sz="1400"/>
          </a:p>
          <a:p>
            <a:pPr>
              <a:buFont typeface="Arial" panose="020B0604020202020204"/>
              <a:buChar char="•"/>
            </a:pPr>
            <a:endParaRPr sz="1400"/>
          </a:p>
          <a:p>
            <a:pPr>
              <a:buFont typeface="Arial" panose="020B0604020202020204"/>
              <a:buChar char="•"/>
            </a:pPr>
            <a:r>
              <a:rPr sz="1400"/>
              <a:t>Bộ DC/DC: hạ áp nuôi hệ thống điện phụ.</a:t>
            </a:r>
            <a:endParaRPr sz="1400"/>
          </a:p>
          <a:p>
            <a:r>
              <a:rPr sz="1400"/>
              <a:t>Các phương pháp sạc:</a:t>
            </a:r>
            <a:endParaRPr sz="1400"/>
          </a:p>
          <a:p>
            <a:endParaRPr sz="1400"/>
          </a:p>
          <a:p>
            <a:pPr>
              <a:buFont typeface="Arial" panose="020B0604020202020204"/>
              <a:buChar char="•"/>
            </a:pPr>
            <a:r>
              <a:rPr sz="1400"/>
              <a:t>Sạc chậm (AC): 6–12 giờ, tiện cho sạc tại nhà.</a:t>
            </a:r>
            <a:endParaRPr sz="1400"/>
          </a:p>
          <a:p>
            <a:pPr>
              <a:buFont typeface="Arial" panose="020B0604020202020204"/>
              <a:buChar char="•"/>
            </a:pPr>
            <a:endParaRPr sz="1400"/>
          </a:p>
          <a:p>
            <a:pPr>
              <a:buFont typeface="Arial" panose="020B0604020202020204"/>
              <a:buChar char="•"/>
            </a:pPr>
            <a:r>
              <a:rPr sz="1400"/>
              <a:t>Sạc nhanh (DC): 30–60 phút đạt ~80%.</a:t>
            </a:r>
            <a:endParaRPr sz="1400"/>
          </a:p>
          <a:p>
            <a:pPr>
              <a:buFont typeface="Arial" panose="020B0604020202020204"/>
              <a:buChar char="•"/>
            </a:pPr>
            <a:endParaRPr sz="1400"/>
          </a:p>
          <a:p>
            <a:pPr>
              <a:buFont typeface="Arial" panose="020B0604020202020204"/>
              <a:buChar char="•"/>
            </a:pPr>
            <a:r>
              <a:rPr sz="1400"/>
              <a:t>Sạc không dây: tiện lợi, hiệu suất thấp hơn.</a:t>
            </a:r>
            <a:endParaRPr sz="1400"/>
          </a:p>
          <a:p>
            <a:r>
              <a:rPr sz="1400"/>
              <a:t>Quy trình: Cắm giắc → giao tiếp xe – trạm → BMS điều khiển → pin đầy → tự ngắt.</a:t>
            </a:r>
            <a:endParaRPr sz="1400"/>
          </a:p>
        </p:txBody>
      </p:sp>
      <p:pic>
        <p:nvPicPr>
          <p:cNvPr id="2" name="Picture 1"/>
          <p:cNvPicPr>
            <a:picLocks noChangeAspect="1"/>
          </p:cNvPicPr>
          <p:nvPr/>
        </p:nvPicPr>
        <p:blipFill>
          <a:blip r:embed="rId1"/>
          <a:stretch>
            <a:fillRect/>
          </a:stretch>
        </p:blipFill>
        <p:spPr>
          <a:xfrm>
            <a:off x="4919980" y="66675"/>
            <a:ext cx="5736590" cy="392303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241935"/>
            <a:ext cx="11901805" cy="6616065"/>
          </a:xfrm>
          <a:prstGeom prst="rect">
            <a:avLst/>
          </a:prstGeom>
        </p:spPr>
        <p:txBody>
          <a:bodyPr wrap="square">
            <a:spAutoFit/>
          </a:bodyPr>
          <a:p>
            <a:pPr>
              <a:spcAft>
                <a:spcPct val="0"/>
              </a:spcAft>
            </a:pPr>
            <a:r>
              <a:rPr sz="2300" b="1"/>
              <a:t>Giới thiệu chung về Pin trên ô tô điện</a:t>
            </a:r>
            <a:endParaRPr sz="2300" b="1"/>
          </a:p>
          <a:p>
            <a:pPr>
              <a:spcAft>
                <a:spcPct val="0"/>
              </a:spcAft>
            </a:pPr>
            <a:endParaRPr sz="2300" b="1"/>
          </a:p>
          <a:p>
            <a:pPr>
              <a:buFont typeface="Arial" panose="020B0604020202020204"/>
              <a:buChar char="•"/>
            </a:pPr>
            <a:r>
              <a:rPr sz="1400"/>
              <a:t>Khái niệm: Pin (Battery) là bộ phận lưu trữ và cung cấp năng lượng điện cho động cơ điện và các hệ thống trên xe.</a:t>
            </a:r>
            <a:endParaRPr sz="1400"/>
          </a:p>
          <a:p>
            <a:pPr>
              <a:buFont typeface="Arial" panose="020B0604020202020204"/>
              <a:buChar char="•"/>
            </a:pPr>
            <a:endParaRPr sz="1400"/>
          </a:p>
          <a:p>
            <a:pPr>
              <a:buFont typeface="Arial" panose="020B0604020202020204"/>
              <a:buChar char="•"/>
            </a:pPr>
            <a:r>
              <a:rPr sz="1400"/>
              <a:t>Vai trò:</a:t>
            </a:r>
            <a:endParaRPr sz="1400"/>
          </a:p>
          <a:p>
            <a:pPr>
              <a:buFont typeface="Arial" panose="020B0604020202020204"/>
              <a:buChar char="•"/>
            </a:pPr>
            <a:endParaRPr sz="1400"/>
          </a:p>
          <a:p>
            <a:pPr lvl="1">
              <a:buFont typeface="Arial" panose="020B0604020202020204"/>
              <a:buChar char="◦"/>
            </a:pPr>
            <a:r>
              <a:rPr sz="1400"/>
              <a:t>Nguồn năng lượng chính thay cho nhiên liệu xăng/dầu.</a:t>
            </a:r>
            <a:endParaRPr sz="1400"/>
          </a:p>
          <a:p>
            <a:pPr lvl="1">
              <a:buFont typeface="Arial" panose="020B0604020202020204"/>
              <a:buChar char="◦"/>
            </a:pPr>
            <a:endParaRPr sz="1400"/>
          </a:p>
          <a:p>
            <a:pPr lvl="1">
              <a:buFont typeface="Arial" panose="020B0604020202020204"/>
              <a:buChar char="◦"/>
            </a:pPr>
            <a:r>
              <a:rPr sz="1400"/>
              <a:t>Quyết định quãng đường di chuyển, công suất và hiệu suất xe.</a:t>
            </a:r>
            <a:endParaRPr sz="1400"/>
          </a:p>
          <a:p>
            <a:pPr lvl="1">
              <a:buFont typeface="Arial" panose="020B0604020202020204"/>
              <a:buChar char="◦"/>
            </a:pPr>
            <a:endParaRPr sz="1400"/>
          </a:p>
          <a:p>
            <a:pPr lvl="1">
              <a:buFont typeface="Arial" panose="020B0604020202020204"/>
              <a:buChar char="◦"/>
            </a:pPr>
            <a:r>
              <a:rPr sz="1400"/>
              <a:t>Ảnh hưởng trực tiếp đến giá thành và tuổi thọ của ô tô điện.</a:t>
            </a:r>
            <a:endParaRPr sz="1400"/>
          </a:p>
          <a:p>
            <a:pPr lvl="1">
              <a:buFont typeface="Arial" panose="020B0604020202020204"/>
              <a:buChar char="◦"/>
            </a:pPr>
            <a:endParaRPr sz="1400"/>
          </a:p>
          <a:p>
            <a:pPr>
              <a:buFont typeface="Arial" panose="020B0604020202020204"/>
              <a:buChar char="•"/>
            </a:pPr>
            <a:r>
              <a:rPr sz="1400"/>
              <a:t>Loại pin sử dụng phổ biến:</a:t>
            </a:r>
            <a:endParaRPr sz="1400"/>
          </a:p>
          <a:p>
            <a:pPr>
              <a:buFont typeface="Arial" panose="020B0604020202020204"/>
              <a:buChar char="•"/>
            </a:pPr>
            <a:endParaRPr sz="1400"/>
          </a:p>
          <a:p>
            <a:pPr lvl="1">
              <a:buFont typeface="Arial" panose="020B0604020202020204"/>
              <a:buChar char="◦"/>
            </a:pPr>
            <a:r>
              <a:rPr sz="1400"/>
              <a:t>Pin Lithium-ion (Li-ion): nhẹ, dung lượng cao, tuổi thọ tốt → được dùng nhiều nhất hiện nay.</a:t>
            </a:r>
            <a:endParaRPr sz="1400"/>
          </a:p>
          <a:p>
            <a:pPr lvl="1">
              <a:buFont typeface="Arial" panose="020B0604020202020204"/>
              <a:buChar char="◦"/>
            </a:pPr>
            <a:endParaRPr sz="1400"/>
          </a:p>
          <a:p>
            <a:pPr lvl="1">
              <a:buFont typeface="Arial" panose="020B0604020202020204"/>
              <a:buChar char="◦"/>
            </a:pPr>
            <a:r>
              <a:rPr sz="1400"/>
              <a:t>Pin LFP (Lithium Iron Phosphate): bền, an toàn, giá thấp hơn nhưng mật độ năng lượng thấp.</a:t>
            </a:r>
            <a:endParaRPr sz="1400"/>
          </a:p>
          <a:p>
            <a:pPr lvl="1">
              <a:buFont typeface="Arial" panose="020B0604020202020204"/>
              <a:buChar char="◦"/>
            </a:pPr>
            <a:endParaRPr sz="1400"/>
          </a:p>
          <a:p>
            <a:pPr lvl="1">
              <a:buFont typeface="Arial" panose="020B0604020202020204"/>
              <a:buChar char="◦"/>
            </a:pPr>
            <a:r>
              <a:rPr sz="1400"/>
              <a:t>Ngoài ra còn có pin thể rắn (Solid-state, đang nghiên cứu) hứa hẹn dung lượng cao và an toàn hơn.</a:t>
            </a:r>
            <a:endParaRPr sz="1400"/>
          </a:p>
          <a:p>
            <a:pPr lvl="1">
              <a:buFont typeface="Arial" panose="020B0604020202020204"/>
              <a:buChar char="◦"/>
            </a:pPr>
            <a:endParaRPr sz="1400"/>
          </a:p>
          <a:p>
            <a:pPr>
              <a:buFont typeface="Arial" panose="020B0604020202020204"/>
              <a:buChar char="•"/>
            </a:pPr>
            <a:r>
              <a:rPr sz="1400"/>
              <a:t>Cấu tạo cơ bản: Gồm nhiều cell pin ghép thành module, sau đó kết hợp thành pack pin để cung cấp điện áp cao (200V – 800V).</a:t>
            </a:r>
            <a:endParaRPr sz="1400"/>
          </a:p>
          <a:p>
            <a:pPr>
              <a:buFont typeface="Arial" panose="020B0604020202020204"/>
              <a:buChar char="•"/>
            </a:pPr>
            <a:endParaRPr sz="1400"/>
          </a:p>
          <a:p>
            <a:pPr>
              <a:buFont typeface="Arial" panose="020B0604020202020204"/>
              <a:buChar char="•"/>
            </a:pPr>
            <a:r>
              <a:rPr sz="1400"/>
              <a:t>Yếu tố ảnh hưởng đến pin:</a:t>
            </a:r>
            <a:endParaRPr sz="1400"/>
          </a:p>
          <a:p>
            <a:pPr>
              <a:buFont typeface="Arial" panose="020B0604020202020204"/>
              <a:buChar char="•"/>
            </a:pPr>
            <a:endParaRPr sz="1400"/>
          </a:p>
          <a:p>
            <a:pPr lvl="1">
              <a:buFont typeface="Arial" panose="020B0604020202020204"/>
              <a:buChar char="◦"/>
            </a:pPr>
            <a:r>
              <a:rPr sz="1400"/>
              <a:t>Nhiệt độ làm việc.</a:t>
            </a:r>
            <a:endParaRPr sz="1400"/>
          </a:p>
          <a:p>
            <a:pPr lvl="1">
              <a:buFont typeface="Arial" panose="020B0604020202020204"/>
              <a:buChar char="◦"/>
            </a:pPr>
            <a:endParaRPr sz="1400"/>
          </a:p>
          <a:p>
            <a:pPr lvl="1">
              <a:buFont typeface="Arial" panose="020B0604020202020204"/>
              <a:buChar char="◦"/>
            </a:pPr>
            <a:r>
              <a:rPr sz="1400"/>
              <a:t>Chu kỳ sạc/xả.</a:t>
            </a:r>
            <a:endParaRPr sz="1400"/>
          </a:p>
          <a:p>
            <a:pPr lvl="1">
              <a:buFont typeface="Arial" panose="020B0604020202020204"/>
              <a:buChar char="◦"/>
            </a:pPr>
            <a:endParaRPr sz="1400"/>
          </a:p>
          <a:p>
            <a:pPr lvl="1">
              <a:buFont typeface="Arial" panose="020B0604020202020204"/>
              <a:buChar char="◦"/>
            </a:pPr>
            <a:r>
              <a:rPr sz="1400"/>
              <a:t>Cách sử dụng (sạc nhanh, xả sâu thường xuyên sẽ giảm tuổi thọ).</a:t>
            </a:r>
            <a:endParaRPr sz="1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35" y="59690"/>
            <a:ext cx="12191365" cy="6798945"/>
          </a:xfrm>
          <a:prstGeom prst="rect">
            <a:avLst/>
          </a:prstGeom>
        </p:spPr>
        <p:txBody>
          <a:bodyPr wrap="square">
            <a:noAutofit/>
          </a:bodyPr>
          <a:p>
            <a:pPr>
              <a:spcAft>
                <a:spcPct val="0"/>
              </a:spcAft>
            </a:pPr>
            <a:r>
              <a:rPr sz="2300" b="1"/>
              <a:t>Giới thiệu chung về hệ thống sạc ô tô điện</a:t>
            </a:r>
            <a:endParaRPr sz="2300" b="1"/>
          </a:p>
          <a:p>
            <a:r>
              <a:rPr sz="1400"/>
              <a:t>Hệ thống sạc pin là bộ phận quan trọng trên ô tô điện, có nhiệm vụ cung cấp năng lượng từ nguồn điện ngoài để nạp vào bộ pin của xe. Hệ thống này đảm bảo quá trình sạc diễn ra an toàn, hiệu quả và kéo dài tuổi thọ pin.</a:t>
            </a:r>
            <a:endParaRPr sz="1400"/>
          </a:p>
          <a:p>
            <a:r>
              <a:rPr sz="1400"/>
              <a:t>Các thành phần chính gồm:</a:t>
            </a:r>
            <a:endParaRPr sz="1400"/>
          </a:p>
          <a:p>
            <a:endParaRPr sz="1400"/>
          </a:p>
          <a:p>
            <a:pPr>
              <a:buFont typeface="Arial" panose="020B0604020202020204"/>
              <a:buChar char="•"/>
            </a:pPr>
            <a:r>
              <a:rPr sz="1400"/>
              <a:t>Nguồn điện ngoài (AC/DC): cung cấp năng lượng.</a:t>
            </a:r>
            <a:endParaRPr sz="1400"/>
          </a:p>
          <a:p>
            <a:pPr>
              <a:buFont typeface="Arial" panose="020B0604020202020204"/>
              <a:buChar char="•"/>
            </a:pPr>
            <a:endParaRPr sz="1400"/>
          </a:p>
          <a:p>
            <a:pPr>
              <a:buFont typeface="Arial" panose="020B0604020202020204"/>
              <a:buChar char="•"/>
            </a:pPr>
            <a:r>
              <a:rPr sz="1400"/>
              <a:t>Bộ sạc (On-board Charger): chuyển đổi và điều chỉnh dòng, áp.</a:t>
            </a:r>
            <a:endParaRPr sz="1400"/>
          </a:p>
          <a:p>
            <a:pPr>
              <a:buFont typeface="Arial" panose="020B0604020202020204"/>
              <a:buChar char="•"/>
            </a:pPr>
            <a:endParaRPr sz="1400"/>
          </a:p>
          <a:p>
            <a:pPr>
              <a:buFont typeface="Arial" panose="020B0604020202020204"/>
              <a:buChar char="•"/>
            </a:pPr>
            <a:r>
              <a:rPr sz="1400"/>
              <a:t>BMS (Battery Management System): giám sát, cân bằng và bảo vệ pin.</a:t>
            </a:r>
            <a:endParaRPr sz="1400"/>
          </a:p>
          <a:p>
            <a:pPr>
              <a:buFont typeface="Arial" panose="020B0604020202020204"/>
              <a:buChar char="•"/>
            </a:pPr>
            <a:endParaRPr sz="1400"/>
          </a:p>
          <a:p>
            <a:pPr>
              <a:buFont typeface="Arial" panose="020B0604020202020204"/>
              <a:buChar char="•"/>
            </a:pPr>
            <a:r>
              <a:rPr sz="1400"/>
              <a:t>Cổng sạc &amp; giắc cắm: kết nối an toàn giữa xe và trạm sạc.</a:t>
            </a:r>
            <a:endParaRPr sz="1400"/>
          </a:p>
          <a:p>
            <a:r>
              <a:rPr sz="1400"/>
              <a:t>Hiện nay có 3 phương pháp sạc phổ biến:</a:t>
            </a:r>
            <a:endParaRPr sz="1400"/>
          </a:p>
          <a:p>
            <a:endParaRPr sz="1400"/>
          </a:p>
          <a:p>
            <a:pPr>
              <a:buFont typeface="Arial" panose="020B0604020202020204"/>
              <a:buChar char="•"/>
            </a:pPr>
            <a:r>
              <a:rPr sz="1400"/>
              <a:t>Sạc chậm (AC): tiện cho sạc tại nhà, thời gian dài.</a:t>
            </a:r>
            <a:endParaRPr sz="1400"/>
          </a:p>
          <a:p>
            <a:pPr>
              <a:buFont typeface="Arial" panose="020B0604020202020204"/>
              <a:buChar char="•"/>
            </a:pPr>
            <a:endParaRPr sz="1400"/>
          </a:p>
          <a:p>
            <a:pPr>
              <a:buFont typeface="Arial" panose="020B0604020202020204"/>
              <a:buChar char="•"/>
            </a:pPr>
            <a:r>
              <a:rPr sz="1400"/>
              <a:t>Sạc nhanh (DC): tại trạm công cộng, nạp nhanh 30–60 phút.</a:t>
            </a:r>
            <a:endParaRPr sz="1400"/>
          </a:p>
          <a:p>
            <a:pPr>
              <a:buFont typeface="Arial" panose="020B0604020202020204"/>
              <a:buChar char="•"/>
            </a:pPr>
            <a:endParaRPr sz="1400"/>
          </a:p>
          <a:p>
            <a:pPr>
              <a:buFont typeface="Arial" panose="020B0604020202020204"/>
              <a:buChar char="•"/>
            </a:pPr>
            <a:r>
              <a:rPr sz="1400"/>
              <a:t>Sạc không dây: tiện lợi, đang được nghiên cứu phát triển.</a:t>
            </a:r>
            <a:endParaRPr sz="1400"/>
          </a:p>
        </p:txBody>
      </p:sp>
      <p:pic>
        <p:nvPicPr>
          <p:cNvPr id="3" name="Picture 2"/>
          <p:cNvPicPr>
            <a:picLocks noChangeAspect="1"/>
          </p:cNvPicPr>
          <p:nvPr/>
        </p:nvPicPr>
        <p:blipFill>
          <a:blip r:embed="rId1"/>
          <a:stretch>
            <a:fillRect/>
          </a:stretch>
        </p:blipFill>
        <p:spPr>
          <a:xfrm>
            <a:off x="5792470" y="760095"/>
            <a:ext cx="5284470" cy="45034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13665" y="143510"/>
            <a:ext cx="11964670" cy="6378575"/>
          </a:xfrm>
          <a:prstGeom prst="rect">
            <a:avLst/>
          </a:prstGeom>
        </p:spPr>
        <p:txBody>
          <a:bodyPr wrap="square">
            <a:noAutofit/>
          </a:bodyPr>
          <a:p>
            <a:pPr>
              <a:spcAft>
                <a:spcPct val="0"/>
              </a:spcAft>
            </a:pPr>
            <a:r>
              <a:rPr sz="2300" b="1"/>
              <a:t>. Phân loại pin xe điện</a:t>
            </a:r>
            <a:endParaRPr sz="2300" b="1"/>
          </a:p>
          <a:p>
            <a:r>
              <a:rPr sz="1400"/>
              <a:t>Hiện nay, ô tô điện chủ yếu sử dụng các loại pin sau:</a:t>
            </a:r>
            <a:endParaRPr sz="1400"/>
          </a:p>
          <a:p>
            <a:endParaRPr sz="1400"/>
          </a:p>
          <a:p>
            <a:pPr>
              <a:buFont typeface="Arial" panose="020B0604020202020204"/>
              <a:buChar char="•"/>
            </a:pPr>
            <a:r>
              <a:rPr sz="1400"/>
              <a:t>Pin Lithium-ion (Li-ion):</a:t>
            </a:r>
            <a:endParaRPr sz="1400"/>
          </a:p>
          <a:p>
            <a:pPr>
              <a:buFont typeface="Arial" panose="020B0604020202020204"/>
              <a:buChar char="•"/>
            </a:pPr>
            <a:endParaRPr sz="1400"/>
          </a:p>
          <a:p>
            <a:pPr lvl="1">
              <a:buFont typeface="Arial" panose="020B0604020202020204"/>
              <a:buChar char="◦"/>
            </a:pPr>
            <a:r>
              <a:rPr sz="1400"/>
              <a:t>Phổ biến nhất, dung lượng lớn, trọng lượng nhẹ, hiệu suất cao.</a:t>
            </a:r>
            <a:endParaRPr sz="1400"/>
          </a:p>
          <a:p>
            <a:pPr lvl="1">
              <a:buFont typeface="Arial" panose="020B0604020202020204"/>
              <a:buChar char="◦"/>
            </a:pPr>
            <a:endParaRPr sz="1400"/>
          </a:p>
          <a:p>
            <a:pPr lvl="1">
              <a:buFont typeface="Arial" panose="020B0604020202020204"/>
              <a:buChar char="◦"/>
            </a:pPr>
            <a:r>
              <a:rPr sz="1400"/>
              <a:t>Nhược điểm: giá thành cao, yêu cầu hệ thống quản lý nghiêm ngặt.</a:t>
            </a:r>
            <a:endParaRPr sz="1400"/>
          </a:p>
          <a:p>
            <a:pPr lvl="1">
              <a:buFont typeface="Arial" panose="020B0604020202020204"/>
              <a:buChar char="◦"/>
            </a:pPr>
            <a:endParaRPr sz="1400"/>
          </a:p>
          <a:p>
            <a:pPr>
              <a:buFont typeface="Arial" panose="020B0604020202020204"/>
              <a:buChar char="•"/>
            </a:pPr>
            <a:r>
              <a:rPr sz="1400"/>
              <a:t>Pin LFP (Lithium Iron Phosphate):</a:t>
            </a:r>
            <a:endParaRPr sz="1400"/>
          </a:p>
          <a:p>
            <a:pPr>
              <a:buFont typeface="Arial" panose="020B0604020202020204"/>
              <a:buChar char="•"/>
            </a:pPr>
            <a:endParaRPr sz="1400"/>
          </a:p>
          <a:p>
            <a:pPr lvl="1">
              <a:buFont typeface="Arial" panose="020B0604020202020204"/>
              <a:buChar char="◦"/>
            </a:pPr>
            <a:r>
              <a:rPr sz="1400"/>
              <a:t>An toàn, tuổi thọ cao, giá thành thấp.</a:t>
            </a:r>
            <a:endParaRPr sz="1400"/>
          </a:p>
          <a:p>
            <a:pPr lvl="1">
              <a:buFont typeface="Arial" panose="020B0604020202020204"/>
              <a:buChar char="◦"/>
            </a:pPr>
            <a:endParaRPr sz="1400"/>
          </a:p>
          <a:p>
            <a:pPr lvl="1">
              <a:buFont typeface="Arial" panose="020B0604020202020204"/>
              <a:buChar char="◦"/>
            </a:pPr>
            <a:r>
              <a:rPr sz="1400"/>
              <a:t>Nhược điểm: mật độ năng lượng thấp hơn Li-ion, quãng đường ngắn hơn.</a:t>
            </a:r>
            <a:endParaRPr sz="1400"/>
          </a:p>
          <a:p>
            <a:pPr lvl="1">
              <a:buFont typeface="Arial" panose="020B0604020202020204"/>
              <a:buChar char="◦"/>
            </a:pPr>
            <a:endParaRPr sz="1400"/>
          </a:p>
          <a:p>
            <a:pPr>
              <a:buFont typeface="Arial" panose="020B0604020202020204"/>
              <a:buChar char="•"/>
            </a:pPr>
            <a:r>
              <a:rPr sz="1400"/>
              <a:t>Pin NMC (Nickel Mangan Cobalt):</a:t>
            </a:r>
            <a:endParaRPr sz="1400"/>
          </a:p>
          <a:p>
            <a:pPr>
              <a:buFont typeface="Arial" panose="020B0604020202020204"/>
              <a:buChar char="•"/>
            </a:pPr>
            <a:endParaRPr sz="1400"/>
          </a:p>
          <a:p>
            <a:pPr lvl="1">
              <a:buFont typeface="Arial" panose="020B0604020202020204"/>
              <a:buChar char="◦"/>
            </a:pPr>
            <a:r>
              <a:rPr sz="1400"/>
              <a:t>Dung lượng lớn, khả năng tăng tốc tốt.</a:t>
            </a:r>
            <a:endParaRPr sz="1400"/>
          </a:p>
          <a:p>
            <a:pPr lvl="1">
              <a:buFont typeface="Arial" panose="020B0604020202020204"/>
              <a:buChar char="◦"/>
            </a:pPr>
            <a:endParaRPr sz="1400"/>
          </a:p>
          <a:p>
            <a:pPr lvl="1">
              <a:buFont typeface="Arial" panose="020B0604020202020204"/>
              <a:buChar char="◦"/>
            </a:pPr>
            <a:r>
              <a:rPr sz="1400"/>
              <a:t>Nhược điểm: giá cao, độ bền kém hơn LFP.</a:t>
            </a:r>
            <a:endParaRPr sz="1400"/>
          </a:p>
          <a:p>
            <a:pPr lvl="1">
              <a:buFont typeface="Arial" panose="020B0604020202020204"/>
              <a:buChar char="◦"/>
            </a:pPr>
            <a:endParaRPr sz="1400"/>
          </a:p>
          <a:p>
            <a:pPr>
              <a:buFont typeface="Arial" panose="020B0604020202020204"/>
              <a:buChar char="•"/>
            </a:pPr>
            <a:r>
              <a:rPr sz="1400"/>
              <a:t>Pin thể rắn (Solid-state – đang nghiên cứu):</a:t>
            </a:r>
            <a:endParaRPr sz="1400"/>
          </a:p>
          <a:p>
            <a:pPr>
              <a:buFont typeface="Arial" panose="020B0604020202020204"/>
              <a:buChar char="•"/>
            </a:pPr>
            <a:endParaRPr sz="1400"/>
          </a:p>
          <a:p>
            <a:pPr lvl="1">
              <a:buFont typeface="Arial" panose="020B0604020202020204"/>
              <a:buChar char="◦"/>
            </a:pPr>
            <a:r>
              <a:rPr sz="1400"/>
              <a:t>Năng lượng cao, an toàn hơn, sạc nhanh.</a:t>
            </a:r>
            <a:endParaRPr sz="1400"/>
          </a:p>
          <a:p>
            <a:pPr lvl="1">
              <a:buFont typeface="Arial" panose="020B0604020202020204"/>
              <a:buChar char="◦"/>
            </a:pPr>
            <a:endParaRPr sz="1400"/>
          </a:p>
          <a:p>
            <a:pPr lvl="1">
              <a:buFont typeface="Arial" panose="020B0604020202020204"/>
              <a:buChar char="◦"/>
            </a:pPr>
            <a:r>
              <a:rPr sz="1400"/>
              <a:t>Nhược điểm: công nghệ chưa phổ biến, giá thành đắt.</a:t>
            </a:r>
            <a:endParaRPr sz="1400"/>
          </a:p>
        </p:txBody>
      </p:sp>
      <p:pic>
        <p:nvPicPr>
          <p:cNvPr id="3" name="Picture 2"/>
          <p:cNvPicPr>
            <a:picLocks noChangeAspect="1"/>
          </p:cNvPicPr>
          <p:nvPr/>
        </p:nvPicPr>
        <p:blipFill>
          <a:blip r:embed="rId1"/>
          <a:stretch>
            <a:fillRect/>
          </a:stretch>
        </p:blipFill>
        <p:spPr>
          <a:xfrm>
            <a:off x="6194425" y="143510"/>
            <a:ext cx="3917950" cy="279527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80010"/>
            <a:ext cx="12192000" cy="6616700"/>
          </a:xfrm>
          <a:prstGeom prst="rect">
            <a:avLst/>
          </a:prstGeom>
        </p:spPr>
        <p:txBody>
          <a:bodyPr wrap="square">
            <a:noAutofit/>
          </a:bodyPr>
          <a:p>
            <a:pPr>
              <a:spcAft>
                <a:spcPct val="0"/>
              </a:spcAft>
            </a:pPr>
            <a:r>
              <a:rPr sz="2300" b="1"/>
              <a:t>Phân loại hệ thống sạc xe điện</a:t>
            </a:r>
            <a:endParaRPr sz="2300" b="1"/>
          </a:p>
          <a:p>
            <a:pPr>
              <a:spcAft>
                <a:spcPct val="0"/>
              </a:spcAft>
            </a:pPr>
            <a:endParaRPr sz="2300" b="1"/>
          </a:p>
          <a:p>
            <a:pPr>
              <a:buFont typeface="Arial" panose="020B0604020202020204"/>
              <a:buChar char="•"/>
            </a:pPr>
            <a:r>
              <a:rPr sz="1400"/>
              <a:t>Theo loại dòng điện:</a:t>
            </a:r>
            <a:endParaRPr sz="1400"/>
          </a:p>
          <a:p>
            <a:pPr>
              <a:buFont typeface="Arial" panose="020B0604020202020204"/>
              <a:buChar char="•"/>
            </a:pPr>
            <a:endParaRPr sz="1400"/>
          </a:p>
          <a:p>
            <a:pPr lvl="1">
              <a:buFont typeface="Arial" panose="020B0604020202020204"/>
              <a:buChar char="◦"/>
            </a:pPr>
            <a:r>
              <a:rPr sz="1400"/>
              <a:t>Sạc AC (xoay chiều):</a:t>
            </a:r>
            <a:endParaRPr sz="1400"/>
          </a:p>
          <a:p>
            <a:pPr lvl="1">
              <a:buFont typeface="Arial" panose="020B0604020202020204"/>
              <a:buChar char="◦"/>
            </a:pPr>
            <a:endParaRPr sz="1400"/>
          </a:p>
          <a:p>
            <a:pPr lvl="2">
              <a:buFont typeface="Arial" panose="020B0604020202020204"/>
              <a:buChar char="•"/>
            </a:pPr>
            <a:r>
              <a:rPr sz="1400"/>
              <a:t>Sạc chậm, công suất nhỏ (2–22 kW).</a:t>
            </a:r>
            <a:endParaRPr sz="1400"/>
          </a:p>
          <a:p>
            <a:pPr lvl="2">
              <a:buFont typeface="Arial" panose="020B0604020202020204"/>
              <a:buChar char="•"/>
            </a:pPr>
            <a:endParaRPr sz="1400"/>
          </a:p>
          <a:p>
            <a:pPr lvl="2">
              <a:buFont typeface="Arial" panose="020B0604020202020204"/>
              <a:buChar char="•"/>
            </a:pPr>
            <a:r>
              <a:rPr sz="1400"/>
              <a:t>Thường dùng tại nhà hoặc bãi đỗ.</a:t>
            </a:r>
            <a:endParaRPr sz="1400"/>
          </a:p>
          <a:p>
            <a:pPr lvl="2">
              <a:buFont typeface="Arial" panose="020B0604020202020204"/>
              <a:buChar char="•"/>
            </a:pPr>
            <a:endParaRPr sz="1400"/>
          </a:p>
          <a:p>
            <a:pPr lvl="1">
              <a:buFont typeface="Arial" panose="020B0604020202020204"/>
              <a:buChar char="◦"/>
            </a:pPr>
            <a:r>
              <a:rPr sz="1400"/>
              <a:t>Sạc DC (một chiều):</a:t>
            </a:r>
            <a:endParaRPr sz="1400"/>
          </a:p>
          <a:p>
            <a:pPr lvl="1">
              <a:buFont typeface="Arial" panose="020B0604020202020204"/>
              <a:buChar char="◦"/>
            </a:pPr>
            <a:endParaRPr sz="1400"/>
          </a:p>
          <a:p>
            <a:pPr lvl="2">
              <a:buFont typeface="Arial" panose="020B0604020202020204"/>
              <a:buChar char="•"/>
            </a:pPr>
            <a:r>
              <a:rPr sz="1400"/>
              <a:t>Sạc nhanh, công suất lớn (50–350 kW).</a:t>
            </a:r>
            <a:endParaRPr sz="1400"/>
          </a:p>
          <a:p>
            <a:pPr lvl="2">
              <a:buFont typeface="Arial" panose="020B0604020202020204"/>
              <a:buChar char="•"/>
            </a:pPr>
            <a:endParaRPr sz="1400"/>
          </a:p>
          <a:p>
            <a:pPr lvl="2">
              <a:buFont typeface="Arial" panose="020B0604020202020204"/>
              <a:buChar char="•"/>
            </a:pPr>
            <a:r>
              <a:rPr sz="1400"/>
              <a:t>Chủ yếu ở các trạm sạc công cộng.</a:t>
            </a:r>
            <a:endParaRPr sz="1400"/>
          </a:p>
          <a:p>
            <a:pPr lvl="2">
              <a:buFont typeface="Arial" panose="020B0604020202020204"/>
              <a:buChar char="•"/>
            </a:pPr>
            <a:endParaRPr sz="1400"/>
          </a:p>
          <a:p>
            <a:pPr>
              <a:buFont typeface="Arial" panose="020B0604020202020204"/>
              <a:buChar char="•"/>
            </a:pPr>
            <a:r>
              <a:rPr sz="1400"/>
              <a:t>Theo tốc độ sạc:</a:t>
            </a:r>
            <a:endParaRPr sz="1400"/>
          </a:p>
          <a:p>
            <a:pPr>
              <a:buFont typeface="Arial" panose="020B0604020202020204"/>
              <a:buChar char="•"/>
            </a:pPr>
            <a:endParaRPr sz="1400"/>
          </a:p>
          <a:p>
            <a:pPr lvl="1">
              <a:buFont typeface="Arial" panose="020B0604020202020204"/>
              <a:buChar char="◦"/>
            </a:pPr>
            <a:r>
              <a:rPr sz="1400"/>
              <a:t>Sạc chậm (Level 1, Level 2): 6–12 giờ.</a:t>
            </a:r>
            <a:endParaRPr sz="1400"/>
          </a:p>
          <a:p>
            <a:pPr lvl="1">
              <a:buFont typeface="Arial" panose="020B0604020202020204"/>
              <a:buChar char="◦"/>
            </a:pPr>
            <a:endParaRPr sz="1400"/>
          </a:p>
          <a:p>
            <a:pPr lvl="1">
              <a:buFont typeface="Arial" panose="020B0604020202020204"/>
              <a:buChar char="◦"/>
            </a:pPr>
            <a:r>
              <a:rPr sz="1400"/>
              <a:t>Sạc nhanh (Level 3 – DC fast charging): 30–60 phút đạt 80%.</a:t>
            </a:r>
            <a:endParaRPr sz="1400"/>
          </a:p>
          <a:p>
            <a:pPr lvl="1">
              <a:buFont typeface="Arial" panose="020B0604020202020204"/>
              <a:buChar char="◦"/>
            </a:pPr>
            <a:endParaRPr sz="1400"/>
          </a:p>
          <a:p>
            <a:pPr>
              <a:buFont typeface="Arial" panose="020B0604020202020204"/>
              <a:buChar char="•"/>
            </a:pPr>
            <a:r>
              <a:rPr sz="1400"/>
              <a:t>Theo phương pháp truyền năng lượng:</a:t>
            </a:r>
            <a:endParaRPr sz="1400"/>
          </a:p>
          <a:p>
            <a:pPr>
              <a:buFont typeface="Arial" panose="020B0604020202020204"/>
              <a:buChar char="•"/>
            </a:pPr>
            <a:endParaRPr sz="1400"/>
          </a:p>
          <a:p>
            <a:pPr lvl="1">
              <a:buFont typeface="Arial" panose="020B0604020202020204"/>
              <a:buChar char="◦"/>
            </a:pPr>
            <a:r>
              <a:rPr sz="1400"/>
              <a:t>Sạc có dây (wired charging): phổ biến, dùng cổng sạc Type 1, Type 2, CCS, CHAdeMO…</a:t>
            </a:r>
            <a:endParaRPr sz="1400"/>
          </a:p>
          <a:p>
            <a:pPr lvl="1">
              <a:buFont typeface="Arial" panose="020B0604020202020204"/>
              <a:buChar char="◦"/>
            </a:pPr>
            <a:endParaRPr sz="1400"/>
          </a:p>
          <a:p>
            <a:pPr lvl="1">
              <a:buFont typeface="Arial" panose="020B0604020202020204"/>
              <a:buChar char="◦"/>
            </a:pPr>
            <a:r>
              <a:rPr sz="1400"/>
              <a:t>Sạc không dây (wireless charging): dùng cảm ứng điện từ, tiện lợi nhưng hiệu suất thấp hơn.</a:t>
            </a:r>
            <a:endParaRPr sz="1400"/>
          </a:p>
        </p:txBody>
      </p:sp>
      <p:pic>
        <p:nvPicPr>
          <p:cNvPr id="3" name="Picture 2"/>
          <p:cNvPicPr>
            <a:picLocks noChangeAspect="1"/>
          </p:cNvPicPr>
          <p:nvPr/>
        </p:nvPicPr>
        <p:blipFill>
          <a:blip r:embed="rId1"/>
          <a:stretch>
            <a:fillRect/>
          </a:stretch>
        </p:blipFill>
        <p:spPr>
          <a:xfrm>
            <a:off x="4443730" y="346710"/>
            <a:ext cx="6144895" cy="4097655"/>
          </a:xfrm>
          <a:prstGeom prst="rect">
            <a:avLst/>
          </a:prstGeom>
        </p:spPr>
      </p:pic>
    </p:spTree>
  </p:cSld>
  <p:clrMapOvr>
    <a:masterClrMapping/>
  </p:clrMapOvr>
</p:sld>
</file>

<file path=ppt/theme/theme1.xml><?xml version="1.0" encoding="utf-8"?>
<a:theme xmlns:a="http://schemas.openxmlformats.org/drawingml/2006/main"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lu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u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u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u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u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u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u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u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u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u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u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u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3381</Words>
  <Application>WPS Presentation</Application>
  <PresentationFormat>Widescreen</PresentationFormat>
  <Paragraphs>134</Paragraphs>
  <Slides>6</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6</vt:i4>
      </vt:variant>
    </vt:vector>
  </HeadingPairs>
  <TitlesOfParts>
    <vt:vector size="14" baseType="lpstr">
      <vt:lpstr>Arial</vt:lpstr>
      <vt:lpstr>SimSun</vt:lpstr>
      <vt:lpstr>Wingdings</vt:lpstr>
      <vt:lpstr>Arial</vt:lpstr>
      <vt:lpstr>Microsoft YaHei</vt:lpstr>
      <vt:lpstr>Arial Unicode MS</vt:lpstr>
      <vt:lpstr>Calibri</vt:lpstr>
      <vt:lpstr>Blue Waves</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Huy Nguyễn</cp:lastModifiedBy>
  <cp:revision>4</cp:revision>
  <dcterms:created xsi:type="dcterms:W3CDTF">2025-07-23T00:59:00Z</dcterms:created>
  <dcterms:modified xsi:type="dcterms:W3CDTF">2025-12-15T12:46:53Z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3F4A2B28CCEE42D28BC401D6CAD12B90_13</vt:lpwstr>
  </property>
  <property fmtid="{D5CDD505-2E9C-101B-9397-08002B2CF9AE}" pid="3" name="KSOProductBuildVer">
    <vt:lpwstr>1033-12.2.0.22549</vt:lpwstr>
  </property>
</Properties>
</file>