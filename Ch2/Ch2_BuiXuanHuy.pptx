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82" d="100"/>
          <a:sy n="82" d="100"/>
        </p:scale>
        <p:origin x="72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D13090E9-2AFD-48B9-A38B-5F9788B41610}" type="datetimeFigureOut">
              <a:rPr lang="en-US" smtClean="0"/>
              <a:t>12/16/2025</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6493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3090E9-2AFD-48B9-A38B-5F9788B4161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16419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D13090E9-2AFD-48B9-A38B-5F9788B41610}" type="datetimeFigureOut">
              <a:rPr lang="en-US" smtClean="0"/>
              <a:t>12/16/2025</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4134681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3090E9-2AFD-48B9-A38B-5F9788B41610}"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402759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3090E9-2AFD-48B9-A38B-5F9788B41610}"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3764118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3090E9-2AFD-48B9-A38B-5F9788B41610}"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110906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3090E9-2AFD-48B9-A38B-5F9788B41610}"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1829365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3090E9-2AFD-48B9-A38B-5F9788B41610}"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2140763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3090E9-2AFD-48B9-A38B-5F9788B41610}"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4201814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3090E9-2AFD-48B9-A38B-5F9788B41610}"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1949460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D13090E9-2AFD-48B9-A38B-5F9788B41610}" type="datetimeFigureOut">
              <a:rPr lang="en-US" smtClean="0"/>
              <a:t>12/16/2025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2951364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D13090E9-2AFD-48B9-A38B-5F9788B41610}" type="datetimeFigureOut">
              <a:rPr lang="en-US" smtClean="0"/>
              <a:t>12/16/2025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86DCA72-9B9C-4361-A171-46FB56B1DFE4}"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31591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D13090E9-2AFD-48B9-A38B-5F9788B41610}" type="datetimeFigureOut">
              <a:rPr lang="en-US" smtClean="0"/>
              <a:t>12/16/2025</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21548040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13090E9-2AFD-48B9-A38B-5F9788B41610}"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3680866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13090E9-2AFD-48B9-A38B-5F9788B41610}"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1995335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3090E9-2AFD-48B9-A38B-5F9788B4161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1228744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D13090E9-2AFD-48B9-A38B-5F9788B41610}" type="datetimeFigureOut">
              <a:rPr lang="en-US" smtClean="0"/>
              <a:t>12/16/2025</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586DCA72-9B9C-4361-A171-46FB56B1DFE4}" type="slidenum">
              <a:rPr lang="en-US" smtClean="0"/>
              <a:t>‹#›</a:t>
            </a:fld>
            <a:endParaRPr lang="en-US"/>
          </a:p>
        </p:txBody>
      </p:sp>
    </p:spTree>
    <p:extLst>
      <p:ext uri="{BB962C8B-B14F-4D97-AF65-F5344CB8AC3E}">
        <p14:creationId xmlns:p14="http://schemas.microsoft.com/office/powerpoint/2010/main" val="451943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13090E9-2AFD-48B9-A38B-5F9788B41610}" type="datetimeFigureOut">
              <a:rPr lang="en-US" smtClean="0"/>
              <a:t>12/16/2025</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86DCA72-9B9C-4361-A171-46FB56B1DFE4}" type="slidenum">
              <a:rPr lang="en-US" smtClean="0"/>
              <a:t>‹#›</a:t>
            </a:fld>
            <a:endParaRPr lang="en-US"/>
          </a:p>
        </p:txBody>
      </p:sp>
    </p:spTree>
    <p:extLst>
      <p:ext uri="{BB962C8B-B14F-4D97-AF65-F5344CB8AC3E}">
        <p14:creationId xmlns:p14="http://schemas.microsoft.com/office/powerpoint/2010/main" val="3724062251"/>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FFBE27-7D41-44E9-F88A-FD17C7EFA0D9}"/>
              </a:ext>
            </a:extLst>
          </p:cNvPr>
          <p:cNvSpPr>
            <a:spLocks noGrp="1"/>
          </p:cNvSpPr>
          <p:nvPr>
            <p:ph type="title"/>
          </p:nvPr>
        </p:nvSpPr>
        <p:spPr>
          <a:xfrm>
            <a:off x="517849" y="692552"/>
            <a:ext cx="10800627" cy="1075599"/>
          </a:xfrm>
        </p:spPr>
        <p:txBody>
          <a:bodyPr>
            <a:normAutofit/>
          </a:bodyPr>
          <a:lstStyle/>
          <a:p>
            <a:r>
              <a:rPr lang="vi-VN" sz="3600" dirty="0"/>
              <a:t>Chương 2: Hệ thống sạc pin cho xe điện</a:t>
            </a:r>
            <a:endParaRPr lang="en-US" sz="3600" dirty="0"/>
          </a:p>
        </p:txBody>
      </p:sp>
      <p:sp>
        <p:nvSpPr>
          <p:cNvPr id="5" name="Rectangle: Rounded Corners 4">
            <a:extLst>
              <a:ext uri="{FF2B5EF4-FFF2-40B4-BE49-F238E27FC236}">
                <a16:creationId xmlns:a16="http://schemas.microsoft.com/office/drawing/2014/main" id="{80F904E4-C3D6-24F8-F320-F78198765403}"/>
              </a:ext>
            </a:extLst>
          </p:cNvPr>
          <p:cNvSpPr/>
          <p:nvPr/>
        </p:nvSpPr>
        <p:spPr>
          <a:xfrm>
            <a:off x="7921690" y="4735286"/>
            <a:ext cx="3638939" cy="104036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dirty="0"/>
              <a:t>Bùi Xuân Huy</a:t>
            </a:r>
            <a:endParaRPr lang="en-US" dirty="0"/>
          </a:p>
        </p:txBody>
      </p:sp>
      <p:sp>
        <p:nvSpPr>
          <p:cNvPr id="6" name="Rectangle: Rounded Corners 5">
            <a:extLst>
              <a:ext uri="{FF2B5EF4-FFF2-40B4-BE49-F238E27FC236}">
                <a16:creationId xmlns:a16="http://schemas.microsoft.com/office/drawing/2014/main" id="{F0A7CEB7-3A30-476A-F14F-384922500A9F}"/>
              </a:ext>
            </a:extLst>
          </p:cNvPr>
          <p:cNvSpPr/>
          <p:nvPr/>
        </p:nvSpPr>
        <p:spPr>
          <a:xfrm>
            <a:off x="7142584" y="4623318"/>
            <a:ext cx="3979506" cy="115233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a:t>Bùi Xuân Huy</a:t>
            </a:r>
            <a:endParaRPr lang="en-US"/>
          </a:p>
        </p:txBody>
      </p:sp>
    </p:spTree>
    <p:extLst>
      <p:ext uri="{BB962C8B-B14F-4D97-AF65-F5344CB8AC3E}">
        <p14:creationId xmlns:p14="http://schemas.microsoft.com/office/powerpoint/2010/main" val="1886116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A61177-3FA2-47EE-9AF2-33A56EE584DB}"/>
              </a:ext>
            </a:extLst>
          </p:cNvPr>
          <p:cNvSpPr>
            <a:spLocks noGrp="1"/>
          </p:cNvSpPr>
          <p:nvPr>
            <p:ph type="title"/>
          </p:nvPr>
        </p:nvSpPr>
        <p:spPr>
          <a:xfrm>
            <a:off x="0" y="132715"/>
            <a:ext cx="7175241" cy="413126"/>
          </a:xfrm>
        </p:spPr>
        <p:txBody>
          <a:bodyPr>
            <a:normAutofit fontScale="90000"/>
          </a:bodyPr>
          <a:lstStyle/>
          <a:p>
            <a:r>
              <a:rPr lang="vi-VN" sz="2400" dirty="0"/>
              <a:t>Giới thệu chung về pin xe ô điện</a:t>
            </a:r>
            <a:endParaRPr lang="en-US" sz="2400" dirty="0"/>
          </a:p>
        </p:txBody>
      </p:sp>
      <p:sp>
        <p:nvSpPr>
          <p:cNvPr id="10" name="TextBox 9">
            <a:extLst>
              <a:ext uri="{FF2B5EF4-FFF2-40B4-BE49-F238E27FC236}">
                <a16:creationId xmlns:a16="http://schemas.microsoft.com/office/drawing/2014/main" id="{461C418A-6E12-A632-FC1C-37BC9310A203}"/>
              </a:ext>
            </a:extLst>
          </p:cNvPr>
          <p:cNvSpPr txBox="1"/>
          <p:nvPr/>
        </p:nvSpPr>
        <p:spPr>
          <a:xfrm>
            <a:off x="80476" y="545841"/>
            <a:ext cx="6095222" cy="1477328"/>
          </a:xfrm>
          <a:prstGeom prst="rect">
            <a:avLst/>
          </a:prstGeom>
          <a:noFill/>
        </p:spPr>
        <p:txBody>
          <a:bodyPr wrap="square">
            <a:spAutoFit/>
          </a:bodyPr>
          <a:lstStyle/>
          <a:p>
            <a:pPr>
              <a:buNone/>
            </a:pPr>
            <a:r>
              <a:rPr lang="vi-VN" b="1" dirty="0"/>
              <a:t>Khái niệm pin xe ô tô điện</a:t>
            </a:r>
          </a:p>
          <a:p>
            <a:pPr>
              <a:buNone/>
            </a:pPr>
            <a:r>
              <a:rPr lang="vi-VN" dirty="0"/>
              <a:t>Pin xe ô tô điện là nguồn lưu trữ năng lượng điện, cung cấp điện cho động cơ điện và các hệ thống trên xe (điều hòa, chiếu sáng, giải trí…). Pin quyết định tầm hoạt động, hiệu suất và tuổi thọ của xe điện.</a:t>
            </a:r>
          </a:p>
        </p:txBody>
      </p:sp>
      <p:pic>
        <p:nvPicPr>
          <p:cNvPr id="12" name="Picture 11">
            <a:extLst>
              <a:ext uri="{FF2B5EF4-FFF2-40B4-BE49-F238E27FC236}">
                <a16:creationId xmlns:a16="http://schemas.microsoft.com/office/drawing/2014/main" id="{DFD60B5D-F587-D7CE-22C8-5AC9C3969EBB}"/>
              </a:ext>
            </a:extLst>
          </p:cNvPr>
          <p:cNvPicPr>
            <a:picLocks noChangeAspect="1"/>
          </p:cNvPicPr>
          <p:nvPr/>
        </p:nvPicPr>
        <p:blipFill>
          <a:blip r:embed="rId2"/>
          <a:stretch>
            <a:fillRect/>
          </a:stretch>
        </p:blipFill>
        <p:spPr>
          <a:xfrm>
            <a:off x="6096000" y="390651"/>
            <a:ext cx="5779297" cy="3444846"/>
          </a:xfrm>
          <a:prstGeom prst="rect">
            <a:avLst/>
          </a:prstGeom>
        </p:spPr>
      </p:pic>
    </p:spTree>
    <p:extLst>
      <p:ext uri="{BB962C8B-B14F-4D97-AF65-F5344CB8AC3E}">
        <p14:creationId xmlns:p14="http://schemas.microsoft.com/office/powerpoint/2010/main" val="3179214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0F4C84-93FF-7026-FC56-33719F8505C5}"/>
              </a:ext>
            </a:extLst>
          </p:cNvPr>
          <p:cNvSpPr txBox="1"/>
          <p:nvPr/>
        </p:nvSpPr>
        <p:spPr>
          <a:xfrm>
            <a:off x="555171" y="179792"/>
            <a:ext cx="10175033" cy="6186309"/>
          </a:xfrm>
          <a:prstGeom prst="rect">
            <a:avLst/>
          </a:prstGeom>
          <a:noFill/>
        </p:spPr>
        <p:txBody>
          <a:bodyPr wrap="square">
            <a:spAutoFit/>
          </a:bodyPr>
          <a:lstStyle/>
          <a:p>
            <a:pPr>
              <a:spcAft>
                <a:spcPct val="0"/>
              </a:spcAft>
            </a:pPr>
            <a:r>
              <a:rPr lang="vi-VN" sz="2300" b="1" dirty="0"/>
              <a:t>Giới thiệu chung về Pin trên ô tô điện</a:t>
            </a:r>
          </a:p>
          <a:p>
            <a:pPr>
              <a:spcAft>
                <a:spcPct val="0"/>
              </a:spcAft>
            </a:pPr>
            <a:endParaRPr lang="vi-VN" sz="2300" b="1" dirty="0"/>
          </a:p>
          <a:p>
            <a:pPr>
              <a:buFont typeface="Arial" panose="020B0604020202020204"/>
              <a:buChar char="•"/>
            </a:pPr>
            <a:r>
              <a:rPr lang="vi-VN" sz="1400" dirty="0"/>
              <a:t>Khái niệm: Pin (Battery) là bộ phận lưu trữ và cung cấp năng lượng điện cho động cơ điện và các hệ thống trên xe.</a:t>
            </a:r>
          </a:p>
          <a:p>
            <a:pPr>
              <a:buFont typeface="Arial" panose="020B0604020202020204"/>
              <a:buChar char="•"/>
            </a:pPr>
            <a:endParaRPr lang="vi-VN" sz="1400" dirty="0"/>
          </a:p>
          <a:p>
            <a:pPr>
              <a:buFont typeface="Arial" panose="020B0604020202020204"/>
              <a:buChar char="•"/>
            </a:pPr>
            <a:r>
              <a:rPr lang="vi-VN" sz="1400" dirty="0"/>
              <a:t>Vai trò:</a:t>
            </a:r>
          </a:p>
          <a:p>
            <a:pPr>
              <a:buFont typeface="Arial" panose="020B0604020202020204"/>
              <a:buChar char="•"/>
            </a:pPr>
            <a:endParaRPr lang="vi-VN" sz="1400" dirty="0"/>
          </a:p>
          <a:p>
            <a:pPr lvl="1">
              <a:buFont typeface="Arial" panose="020B0604020202020204"/>
              <a:buChar char="◦"/>
            </a:pPr>
            <a:r>
              <a:rPr lang="vi-VN" sz="1400" dirty="0"/>
              <a:t>Nguồn năng lượng chính thay cho nhiên liệu xăng/dầu.</a:t>
            </a:r>
          </a:p>
          <a:p>
            <a:pPr lvl="1">
              <a:buFont typeface="Arial" panose="020B0604020202020204"/>
              <a:buChar char="◦"/>
            </a:pPr>
            <a:endParaRPr lang="vi-VN" sz="1400" dirty="0"/>
          </a:p>
          <a:p>
            <a:pPr lvl="1">
              <a:buFont typeface="Arial" panose="020B0604020202020204"/>
              <a:buChar char="◦"/>
            </a:pPr>
            <a:r>
              <a:rPr lang="vi-VN" sz="1400" dirty="0"/>
              <a:t>Quyết định quãng đường di chuyển, công suất và hiệu suất xe.</a:t>
            </a:r>
          </a:p>
          <a:p>
            <a:pPr lvl="1">
              <a:buFont typeface="Arial" panose="020B0604020202020204"/>
              <a:buChar char="◦"/>
            </a:pPr>
            <a:endParaRPr lang="vi-VN" sz="1400" dirty="0"/>
          </a:p>
          <a:p>
            <a:pPr lvl="1">
              <a:buFont typeface="Arial" panose="020B0604020202020204"/>
              <a:buChar char="◦"/>
            </a:pPr>
            <a:r>
              <a:rPr lang="vi-VN" sz="1400" dirty="0"/>
              <a:t>Ảnh hưởng trực tiếp đến giá thành và tuổi thọ của ô tô điện.</a:t>
            </a:r>
          </a:p>
          <a:p>
            <a:pPr lvl="1">
              <a:buFont typeface="Arial" panose="020B0604020202020204"/>
              <a:buChar char="◦"/>
            </a:pPr>
            <a:endParaRPr lang="vi-VN" sz="1400" dirty="0"/>
          </a:p>
          <a:p>
            <a:pPr>
              <a:buFont typeface="Arial" panose="020B0604020202020204"/>
              <a:buChar char="•"/>
            </a:pPr>
            <a:r>
              <a:rPr lang="vi-VN" sz="1400" dirty="0"/>
              <a:t>Loại pin sử dụng phổ biến:</a:t>
            </a:r>
          </a:p>
          <a:p>
            <a:pPr>
              <a:buFont typeface="Arial" panose="020B0604020202020204"/>
              <a:buChar char="•"/>
            </a:pPr>
            <a:endParaRPr lang="vi-VN" sz="1400" dirty="0"/>
          </a:p>
          <a:p>
            <a:pPr lvl="1">
              <a:buFont typeface="Arial" panose="020B0604020202020204"/>
              <a:buChar char="◦"/>
            </a:pPr>
            <a:r>
              <a:rPr lang="vi-VN" sz="1400" dirty="0"/>
              <a:t>Pin Lithium-ion (Li-ion): nhẹ, dung lượng cao, tuổi thọ tốt → được dùng nhiều nhất hiện nay.</a:t>
            </a:r>
          </a:p>
          <a:p>
            <a:pPr lvl="1">
              <a:buFont typeface="Arial" panose="020B0604020202020204"/>
              <a:buChar char="◦"/>
            </a:pPr>
            <a:endParaRPr lang="vi-VN" sz="1400" dirty="0"/>
          </a:p>
          <a:p>
            <a:pPr lvl="1">
              <a:buFont typeface="Arial" panose="020B0604020202020204"/>
              <a:buChar char="◦"/>
            </a:pPr>
            <a:r>
              <a:rPr lang="vi-VN" sz="1400" dirty="0"/>
              <a:t>Pin LFP (Lithium Iron Phosphate): bền, an toàn, giá thấp hơn nhưng mật độ năng lượng thấp.</a:t>
            </a:r>
          </a:p>
          <a:p>
            <a:pPr lvl="1">
              <a:buFont typeface="Arial" panose="020B0604020202020204"/>
              <a:buChar char="◦"/>
            </a:pPr>
            <a:endParaRPr lang="vi-VN" sz="1400" dirty="0"/>
          </a:p>
          <a:p>
            <a:pPr lvl="1">
              <a:buFont typeface="Arial" panose="020B0604020202020204"/>
              <a:buChar char="◦"/>
            </a:pPr>
            <a:r>
              <a:rPr lang="vi-VN" sz="1400" dirty="0"/>
              <a:t>Ngoài ra còn có pin thể rắn (Solid-state, đang nghiên cứu) hứa hẹn dung lượng cao và an toàn hơn.</a:t>
            </a:r>
          </a:p>
          <a:p>
            <a:pPr lvl="1">
              <a:buFont typeface="Arial" panose="020B0604020202020204"/>
              <a:buChar char="◦"/>
            </a:pPr>
            <a:endParaRPr lang="vi-VN" sz="1400" dirty="0"/>
          </a:p>
          <a:p>
            <a:pPr>
              <a:buFont typeface="Arial" panose="020B0604020202020204"/>
              <a:buChar char="•"/>
            </a:pPr>
            <a:r>
              <a:rPr lang="vi-VN" sz="1400" dirty="0"/>
              <a:t>Cấu tạo cơ bản: Gồm nhiều cell pin ghép thành module, sau đó kết hợp thành pack pin để cung cấp điện áp cao (200V – 800V).</a:t>
            </a:r>
          </a:p>
          <a:p>
            <a:pPr>
              <a:buFont typeface="Arial" panose="020B0604020202020204"/>
              <a:buChar char="•"/>
            </a:pPr>
            <a:endParaRPr lang="vi-VN" sz="1400" dirty="0"/>
          </a:p>
          <a:p>
            <a:pPr>
              <a:buFont typeface="Arial" panose="020B0604020202020204"/>
              <a:buChar char="•"/>
            </a:pPr>
            <a:r>
              <a:rPr lang="vi-VN" sz="1400" dirty="0"/>
              <a:t>Yếu tố ảnh hưởng đến pin:</a:t>
            </a:r>
          </a:p>
          <a:p>
            <a:pPr>
              <a:buFont typeface="Arial" panose="020B0604020202020204"/>
              <a:buChar char="•"/>
            </a:pPr>
            <a:endParaRPr lang="vi-VN" sz="1400" dirty="0"/>
          </a:p>
          <a:p>
            <a:pPr lvl="1">
              <a:buFont typeface="Arial" panose="020B0604020202020204"/>
              <a:buChar char="◦"/>
            </a:pPr>
            <a:r>
              <a:rPr lang="vi-VN" sz="1400" dirty="0"/>
              <a:t>Nhiệt độ làm việc.</a:t>
            </a:r>
          </a:p>
          <a:p>
            <a:pPr lvl="1">
              <a:buFont typeface="Arial" panose="020B0604020202020204"/>
              <a:buChar char="◦"/>
            </a:pPr>
            <a:endParaRPr lang="vi-VN" sz="1400" dirty="0"/>
          </a:p>
          <a:p>
            <a:pPr lvl="1">
              <a:buFont typeface="Arial" panose="020B0604020202020204"/>
              <a:buChar char="◦"/>
            </a:pPr>
            <a:r>
              <a:rPr lang="vi-VN" sz="1400" dirty="0"/>
              <a:t>Chu kỳ sạc/xả.</a:t>
            </a:r>
          </a:p>
        </p:txBody>
      </p:sp>
    </p:spTree>
    <p:extLst>
      <p:ext uri="{BB962C8B-B14F-4D97-AF65-F5344CB8AC3E}">
        <p14:creationId xmlns:p14="http://schemas.microsoft.com/office/powerpoint/2010/main" val="901457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C31123-DB19-D17E-04D5-D04A47B914EE}"/>
              </a:ext>
            </a:extLst>
          </p:cNvPr>
          <p:cNvSpPr txBox="1"/>
          <p:nvPr/>
        </p:nvSpPr>
        <p:spPr>
          <a:xfrm>
            <a:off x="192444" y="199288"/>
            <a:ext cx="6095222" cy="3585597"/>
          </a:xfrm>
          <a:prstGeom prst="rect">
            <a:avLst/>
          </a:prstGeom>
          <a:noFill/>
        </p:spPr>
        <p:txBody>
          <a:bodyPr wrap="square">
            <a:spAutoFit/>
          </a:bodyPr>
          <a:lstStyle/>
          <a:p>
            <a:pPr>
              <a:spcAft>
                <a:spcPct val="0"/>
              </a:spcAft>
            </a:pPr>
            <a:r>
              <a:rPr lang="vi-VN" sz="1800" b="1" dirty="0"/>
              <a:t>Giới thiệu chung về hệ thống sạc ô tô điện</a:t>
            </a:r>
          </a:p>
          <a:p>
            <a:r>
              <a:rPr lang="vi-VN" sz="1100" dirty="0"/>
              <a:t>Hệ thống sạc pin là bộ phận quan trọng trên ô tô điện, có nhiệm vụ cung cấp năng lượng từ nguồn điện ngoài để nạp vào bộ pin của xe. Hệ thống này đảm bảo quá trình sạc diễn ra an toàn, hiệu quả và kéo dài tuổi thọ pin.</a:t>
            </a:r>
          </a:p>
          <a:p>
            <a:r>
              <a:rPr lang="vi-VN" sz="1100" dirty="0"/>
              <a:t>Các thành phần chính gồm:</a:t>
            </a:r>
          </a:p>
          <a:p>
            <a:endParaRPr lang="vi-VN" sz="1100" dirty="0"/>
          </a:p>
          <a:p>
            <a:pPr>
              <a:buFont typeface="Arial" panose="020B0604020202020204"/>
              <a:buChar char="•"/>
            </a:pPr>
            <a:r>
              <a:rPr lang="vi-VN" sz="1100" dirty="0"/>
              <a:t>Nguồn điện ngoài (AC/DC): cung cấp năng lượng.</a:t>
            </a:r>
          </a:p>
          <a:p>
            <a:pPr>
              <a:buFont typeface="Arial" panose="020B0604020202020204"/>
              <a:buChar char="•"/>
            </a:pPr>
            <a:endParaRPr lang="vi-VN" sz="1100" dirty="0"/>
          </a:p>
          <a:p>
            <a:pPr>
              <a:buFont typeface="Arial" panose="020B0604020202020204"/>
              <a:buChar char="•"/>
            </a:pPr>
            <a:r>
              <a:rPr lang="vi-VN" sz="1100" dirty="0"/>
              <a:t>Bộ sạc (On-board Charger): chuyển đổi và điều chỉnh dòng, áp.</a:t>
            </a:r>
          </a:p>
          <a:p>
            <a:pPr>
              <a:buFont typeface="Arial" panose="020B0604020202020204"/>
              <a:buChar char="•"/>
            </a:pPr>
            <a:endParaRPr lang="vi-VN" sz="1100" dirty="0"/>
          </a:p>
          <a:p>
            <a:pPr>
              <a:buFont typeface="Arial" panose="020B0604020202020204"/>
              <a:buChar char="•"/>
            </a:pPr>
            <a:r>
              <a:rPr lang="vi-VN" sz="1100" dirty="0"/>
              <a:t>BMS (Battery Management System): giám sát, cân bằng và bảo vệ pin.</a:t>
            </a:r>
          </a:p>
          <a:p>
            <a:pPr>
              <a:buFont typeface="Arial" panose="020B0604020202020204"/>
              <a:buChar char="•"/>
            </a:pPr>
            <a:endParaRPr lang="vi-VN" sz="1100" dirty="0"/>
          </a:p>
          <a:p>
            <a:pPr>
              <a:buFont typeface="Arial" panose="020B0604020202020204"/>
              <a:buChar char="•"/>
            </a:pPr>
            <a:r>
              <a:rPr lang="vi-VN" sz="1100" dirty="0"/>
              <a:t>Cổng sạc &amp; giắc cắm: kết nối an toàn giữa xe và trạm sạc.</a:t>
            </a:r>
          </a:p>
          <a:p>
            <a:r>
              <a:rPr lang="vi-VN" sz="1100" dirty="0"/>
              <a:t>Hiện nay có 3 phương pháp sạc phổ biến:</a:t>
            </a:r>
          </a:p>
          <a:p>
            <a:endParaRPr lang="vi-VN" sz="1100" dirty="0"/>
          </a:p>
          <a:p>
            <a:pPr>
              <a:buFont typeface="Arial" panose="020B0604020202020204"/>
              <a:buChar char="•"/>
            </a:pPr>
            <a:r>
              <a:rPr lang="vi-VN" sz="1100" dirty="0"/>
              <a:t>Sạc chậm (AC): tiện cho sạc tại nhà, thời gian dài.</a:t>
            </a:r>
          </a:p>
          <a:p>
            <a:pPr>
              <a:buFont typeface="Arial" panose="020B0604020202020204"/>
              <a:buChar char="•"/>
            </a:pPr>
            <a:endParaRPr lang="vi-VN" sz="1100" dirty="0"/>
          </a:p>
          <a:p>
            <a:pPr>
              <a:buFont typeface="Arial" panose="020B0604020202020204"/>
              <a:buChar char="•"/>
            </a:pPr>
            <a:r>
              <a:rPr lang="vi-VN" sz="1100" dirty="0"/>
              <a:t>Sạc nhanh (DC): tại trạm công cộng, nạp nhanh 30–60 phút.</a:t>
            </a:r>
          </a:p>
          <a:p>
            <a:pPr>
              <a:buFont typeface="Arial" panose="020B0604020202020204"/>
              <a:buChar char="•"/>
            </a:pPr>
            <a:endParaRPr lang="vi-VN" sz="1100" dirty="0"/>
          </a:p>
          <a:p>
            <a:pPr>
              <a:buFont typeface="Arial" panose="020B0604020202020204"/>
              <a:buChar char="•"/>
            </a:pPr>
            <a:r>
              <a:rPr lang="vi-VN" sz="1100" dirty="0"/>
              <a:t>Sạc không dây: tiện lợi, đang được nghiên cứu phát </a:t>
            </a:r>
            <a:endParaRPr lang="en-US" dirty="0"/>
          </a:p>
        </p:txBody>
      </p:sp>
    </p:spTree>
    <p:extLst>
      <p:ext uri="{BB962C8B-B14F-4D97-AF65-F5344CB8AC3E}">
        <p14:creationId xmlns:p14="http://schemas.microsoft.com/office/powerpoint/2010/main" val="453510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A39F15-3C4C-BF06-604B-A532B49223A0}"/>
              </a:ext>
            </a:extLst>
          </p:cNvPr>
          <p:cNvSpPr txBox="1"/>
          <p:nvPr/>
        </p:nvSpPr>
        <p:spPr>
          <a:xfrm>
            <a:off x="130629" y="240804"/>
            <a:ext cx="6656224" cy="6617196"/>
          </a:xfrm>
          <a:prstGeom prst="rect">
            <a:avLst/>
          </a:prstGeom>
          <a:noFill/>
        </p:spPr>
        <p:txBody>
          <a:bodyPr wrap="square">
            <a:spAutoFit/>
          </a:bodyPr>
          <a:lstStyle/>
          <a:p>
            <a:pPr>
              <a:spcAft>
                <a:spcPct val="0"/>
              </a:spcAft>
            </a:pPr>
            <a:r>
              <a:rPr lang="vi-VN" sz="2300" b="1" dirty="0"/>
              <a:t>Phân loại hệ thống sạc xe điện</a:t>
            </a:r>
          </a:p>
          <a:p>
            <a:pPr>
              <a:spcAft>
                <a:spcPct val="0"/>
              </a:spcAft>
            </a:pPr>
            <a:endParaRPr lang="vi-VN" sz="2300" b="1" dirty="0"/>
          </a:p>
          <a:p>
            <a:pPr>
              <a:buFont typeface="Arial" panose="020B0604020202020204"/>
              <a:buChar char="•"/>
            </a:pPr>
            <a:r>
              <a:rPr lang="vi-VN" sz="1400" dirty="0"/>
              <a:t>Theo loại dòng điện:</a:t>
            </a:r>
          </a:p>
          <a:p>
            <a:pPr>
              <a:buFont typeface="Arial" panose="020B0604020202020204"/>
              <a:buChar char="•"/>
            </a:pPr>
            <a:endParaRPr lang="vi-VN" sz="1400" dirty="0"/>
          </a:p>
          <a:p>
            <a:pPr lvl="1">
              <a:buFont typeface="Arial" panose="020B0604020202020204"/>
              <a:buChar char="◦"/>
            </a:pPr>
            <a:r>
              <a:rPr lang="vi-VN" sz="1400" dirty="0"/>
              <a:t>Sạc AC (xoay chiều):</a:t>
            </a:r>
          </a:p>
          <a:p>
            <a:pPr lvl="1">
              <a:buFont typeface="Arial" panose="020B0604020202020204"/>
              <a:buChar char="◦"/>
            </a:pPr>
            <a:endParaRPr lang="vi-VN" sz="1400" dirty="0"/>
          </a:p>
          <a:p>
            <a:pPr lvl="2">
              <a:buFont typeface="Arial" panose="020B0604020202020204"/>
              <a:buChar char="•"/>
            </a:pPr>
            <a:r>
              <a:rPr lang="vi-VN" sz="1400" dirty="0"/>
              <a:t>Sạc chậm, công suất nhỏ (2–22 kW).</a:t>
            </a:r>
          </a:p>
          <a:p>
            <a:pPr lvl="2">
              <a:buFont typeface="Arial" panose="020B0604020202020204"/>
              <a:buChar char="•"/>
            </a:pPr>
            <a:endParaRPr lang="vi-VN" sz="1400" dirty="0"/>
          </a:p>
          <a:p>
            <a:pPr lvl="2">
              <a:buFont typeface="Arial" panose="020B0604020202020204"/>
              <a:buChar char="•"/>
            </a:pPr>
            <a:r>
              <a:rPr lang="vi-VN" sz="1400" dirty="0"/>
              <a:t>Thường dùng tại nhà hoặc bãi đỗ.</a:t>
            </a:r>
          </a:p>
          <a:p>
            <a:pPr lvl="2">
              <a:buFont typeface="Arial" panose="020B0604020202020204"/>
              <a:buChar char="•"/>
            </a:pPr>
            <a:endParaRPr lang="vi-VN" sz="1400" dirty="0"/>
          </a:p>
          <a:p>
            <a:pPr lvl="1">
              <a:buFont typeface="Arial" panose="020B0604020202020204"/>
              <a:buChar char="◦"/>
            </a:pPr>
            <a:r>
              <a:rPr lang="vi-VN" sz="1400" dirty="0"/>
              <a:t>Sạc DC (một chiều):</a:t>
            </a:r>
          </a:p>
          <a:p>
            <a:pPr lvl="1">
              <a:buFont typeface="Arial" panose="020B0604020202020204"/>
              <a:buChar char="◦"/>
            </a:pPr>
            <a:endParaRPr lang="vi-VN" sz="1400" dirty="0"/>
          </a:p>
          <a:p>
            <a:pPr lvl="2">
              <a:buFont typeface="Arial" panose="020B0604020202020204"/>
              <a:buChar char="•"/>
            </a:pPr>
            <a:r>
              <a:rPr lang="vi-VN" sz="1400" dirty="0"/>
              <a:t>Sạc nhanh, công suất lớn (50–350 kW).</a:t>
            </a:r>
          </a:p>
          <a:p>
            <a:pPr lvl="2">
              <a:buFont typeface="Arial" panose="020B0604020202020204"/>
              <a:buChar char="•"/>
            </a:pPr>
            <a:endParaRPr lang="vi-VN" sz="1400" dirty="0"/>
          </a:p>
          <a:p>
            <a:pPr lvl="2">
              <a:buFont typeface="Arial" panose="020B0604020202020204"/>
              <a:buChar char="•"/>
            </a:pPr>
            <a:r>
              <a:rPr lang="vi-VN" sz="1400" dirty="0"/>
              <a:t>Chủ yếu ở các trạm sạc công cộng.</a:t>
            </a:r>
          </a:p>
          <a:p>
            <a:pPr lvl="2">
              <a:buFont typeface="Arial" panose="020B0604020202020204"/>
              <a:buChar char="•"/>
            </a:pPr>
            <a:endParaRPr lang="vi-VN" sz="1400" dirty="0"/>
          </a:p>
          <a:p>
            <a:pPr>
              <a:buFont typeface="Arial" panose="020B0604020202020204"/>
              <a:buChar char="•"/>
            </a:pPr>
            <a:r>
              <a:rPr lang="vi-VN" sz="1400" dirty="0"/>
              <a:t>Theo tốc độ sạc:</a:t>
            </a:r>
          </a:p>
          <a:p>
            <a:pPr>
              <a:buFont typeface="Arial" panose="020B0604020202020204"/>
              <a:buChar char="•"/>
            </a:pPr>
            <a:endParaRPr lang="vi-VN" sz="1400" dirty="0"/>
          </a:p>
          <a:p>
            <a:pPr lvl="1">
              <a:buFont typeface="Arial" panose="020B0604020202020204"/>
              <a:buChar char="◦"/>
            </a:pPr>
            <a:r>
              <a:rPr lang="vi-VN" sz="1400" dirty="0"/>
              <a:t>Sạc chậm (Level 1, Level 2): 6–12 giờ.</a:t>
            </a:r>
          </a:p>
          <a:p>
            <a:pPr lvl="1">
              <a:buFont typeface="Arial" panose="020B0604020202020204"/>
              <a:buChar char="◦"/>
            </a:pPr>
            <a:endParaRPr lang="vi-VN" sz="1400" dirty="0"/>
          </a:p>
          <a:p>
            <a:pPr lvl="1">
              <a:buFont typeface="Arial" panose="020B0604020202020204"/>
              <a:buChar char="◦"/>
            </a:pPr>
            <a:r>
              <a:rPr lang="vi-VN" sz="1400" dirty="0"/>
              <a:t>Sạc nhanh (Level 3 – DC fast charging): 30–60 phút đạt 80%.</a:t>
            </a:r>
          </a:p>
          <a:p>
            <a:pPr lvl="1">
              <a:buFont typeface="Arial" panose="020B0604020202020204"/>
              <a:buChar char="◦"/>
            </a:pPr>
            <a:endParaRPr lang="vi-VN" sz="1400" dirty="0"/>
          </a:p>
          <a:p>
            <a:pPr>
              <a:buFont typeface="Arial" panose="020B0604020202020204"/>
              <a:buChar char="•"/>
            </a:pPr>
            <a:r>
              <a:rPr lang="vi-VN" sz="1400" dirty="0"/>
              <a:t>Theo phương pháp truyền năng lượng:</a:t>
            </a:r>
          </a:p>
          <a:p>
            <a:pPr>
              <a:buFont typeface="Arial" panose="020B0604020202020204"/>
              <a:buChar char="•"/>
            </a:pPr>
            <a:endParaRPr lang="vi-VN" sz="1400" dirty="0"/>
          </a:p>
          <a:p>
            <a:pPr lvl="1">
              <a:buFont typeface="Arial" panose="020B0604020202020204"/>
              <a:buChar char="◦"/>
            </a:pPr>
            <a:r>
              <a:rPr lang="vi-VN" sz="1400" dirty="0"/>
              <a:t>Sạc có dây (wired charging): phổ biến, dùng cổng sạc Type 1, Type 2, CCS, CHAdeMO…</a:t>
            </a:r>
          </a:p>
          <a:p>
            <a:pPr lvl="1">
              <a:buFont typeface="Arial" panose="020B0604020202020204"/>
              <a:buChar char="◦"/>
            </a:pPr>
            <a:endParaRPr lang="vi-VN" sz="1400" dirty="0"/>
          </a:p>
          <a:p>
            <a:pPr lvl="1">
              <a:buFont typeface="Arial" panose="020B0604020202020204"/>
              <a:buChar char="◦"/>
            </a:pPr>
            <a:r>
              <a:rPr lang="vi-VN" sz="1400" dirty="0"/>
              <a:t>Sạc không dây (wireless charging): dùng cảm ứng điện từ, tiện lợi nhưng hiệu suất thấp hơn.</a:t>
            </a:r>
          </a:p>
        </p:txBody>
      </p:sp>
    </p:spTree>
    <p:extLst>
      <p:ext uri="{BB962C8B-B14F-4D97-AF65-F5344CB8AC3E}">
        <p14:creationId xmlns:p14="http://schemas.microsoft.com/office/powerpoint/2010/main" val="2559214108"/>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131</TotalTime>
  <Words>616</Words>
  <Application>Microsoft Office PowerPoint</Application>
  <PresentationFormat>Widescreen</PresentationFormat>
  <Paragraphs>78</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Century Gothic</vt:lpstr>
      <vt:lpstr>Vapor Trail</vt:lpstr>
      <vt:lpstr>Chương 2: Hệ thống sạc pin cho xe điện</vt:lpstr>
      <vt:lpstr>Giới thệu chung về pin xe ô điện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nguyentien2005bg@gmail.com</dc:creator>
  <cp:lastModifiedBy>nguyentien2005bg@gmail.com</cp:lastModifiedBy>
  <cp:revision>1</cp:revision>
  <dcterms:created xsi:type="dcterms:W3CDTF">2025-12-16T03:44:11Z</dcterms:created>
  <dcterms:modified xsi:type="dcterms:W3CDTF">2025-12-16T05:55:25Z</dcterms:modified>
</cp:coreProperties>
</file>